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E726694A-3F28-1450-C15C-9460C1C57045}">
          <p14:sldIdLst>
            <p14:sldId id="256"/>
            <p14:sldId id="257"/>
            <p14:sldId id="258"/>
            <p14:sldId id="259"/>
          </p14:sldIdLst>
        </p14:section>
        <p14:section name="Background" id="{87D081EF-D8D7-5FDD-8D62-6BC3E096EFE9}">
          <p14:sldIdLst>
            <p14:sldId id="260"/>
            <p14:sldId id="261"/>
          </p14:sldIdLst>
        </p14:section>
        <p14:section name="Method" id="{0514B5C4-77B3-CF78-5C82-B97361072EF5}">
          <p14:sldIdLst>
            <p14:sldId id="262"/>
          </p14:sldIdLst>
        </p14:section>
        <p14:section name="Results" id="{DD785694-D69F-3D82-0B62-3C9FB9E9E4D5}">
          <p14:sldIdLst>
            <p14:sldId id="263"/>
            <p14:sldId id="264"/>
            <p14:sldId id="265"/>
            <p14:sldId id="266"/>
            <p14:sldId id="267"/>
          </p14:sldIdLst>
        </p14:section>
        <p14:section name="Wrap-up" id="{3011E7BB-B4EE-117F-0186-A0AE567D756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MSE (lower is better ↓)</a:t>
            </a:r>
          </a:p>
        </c:rich>
      </c:tx>
      <c:overlay val="0"/>
    </c:title>
    <c:autoTitleDeleted val="0"/>
    <c:plotArea>
      <c:layout/>
      <c:barChart>
        <c:barDir val="col"/>
        <c:grouping val="clustered"/>
        <c:varyColors val="0"/>
        <c:ser>
          <c:idx val="0"/>
          <c:order val="0"/>
          <c:tx>
            <c:strRef>
              <c:f>Sheet1!$B$1</c:f>
              <c:strCache>
                <c:ptCount val="1"/>
                <c:pt idx="0">
                  <c:v>Histogram Equalization</c:v>
                </c:pt>
              </c:strCache>
            </c:strRef>
          </c:tx>
          <c:spPr>
            <a:solidFill>
              <a:srgbClr val="E0A458"/>
            </a:solidFill>
            <a:effectLst/>
          </c:spPr>
          <c:invertIfNegative val="0"/>
          <c:cat>
            <c:strRef>
              <c:f>Sheet1!$A$2:$A$4</c:f>
              <c:strCache>
                <c:ptCount val="3"/>
                <c:pt idx="0">
                  <c:v>Mild</c:v>
                </c:pt>
                <c:pt idx="1">
                  <c:v>Moderate</c:v>
                </c:pt>
                <c:pt idx="2">
                  <c:v>Severe</c:v>
                </c:pt>
              </c:strCache>
            </c:strRef>
          </c:cat>
          <c:val>
            <c:numRef>
              <c:f>Sheet1!$B$2:$B$4</c:f>
              <c:numCache>
                <c:formatCode>General</c:formatCode>
                <c:ptCount val="3"/>
                <c:pt idx="0">
                  <c:v>1246.0920064473632</c:v>
                </c:pt>
                <c:pt idx="1">
                  <c:v>1330.851960940905</c:v>
                </c:pt>
                <c:pt idx="2">
                  <c:v>1704.5814324827429</c:v>
                </c:pt>
              </c:numCache>
            </c:numRef>
          </c:val>
          <c:extLst>
            <c:ext xmlns:c16="http://schemas.microsoft.com/office/drawing/2014/chart" uri="{C3380CC4-5D6E-409C-BE32-E72D297353CC}">
              <c16:uniqueId val="{00000000-E656-447F-9F2E-B72B53D5ACB7}"/>
            </c:ext>
          </c:extLst>
        </c:ser>
        <c:ser>
          <c:idx val="1"/>
          <c:order val="1"/>
          <c:tx>
            <c:strRef>
              <c:f>Sheet1!$C$1</c:f>
              <c:strCache>
                <c:ptCount val="1"/>
                <c:pt idx="0">
                  <c:v>Gamma Correction</c:v>
                </c:pt>
              </c:strCache>
            </c:strRef>
          </c:tx>
          <c:spPr>
            <a:solidFill>
              <a:srgbClr val="A8B3C4"/>
            </a:solidFill>
            <a:effectLst/>
          </c:spPr>
          <c:invertIfNegative val="0"/>
          <c:cat>
            <c:strRef>
              <c:f>Sheet1!$A$2:$A$4</c:f>
              <c:strCache>
                <c:ptCount val="3"/>
                <c:pt idx="0">
                  <c:v>Mild</c:v>
                </c:pt>
                <c:pt idx="1">
                  <c:v>Moderate</c:v>
                </c:pt>
                <c:pt idx="2">
                  <c:v>Severe</c:v>
                </c:pt>
              </c:strCache>
            </c:strRef>
          </c:cat>
          <c:val>
            <c:numRef>
              <c:f>Sheet1!$C$2:$C$4</c:f>
              <c:numCache>
                <c:formatCode>General</c:formatCode>
                <c:ptCount val="3"/>
                <c:pt idx="0">
                  <c:v>985.0557310523966</c:v>
                </c:pt>
                <c:pt idx="1">
                  <c:v>3903.4194946094321</c:v>
                </c:pt>
                <c:pt idx="2">
                  <c:v>8184.5968644289624</c:v>
                </c:pt>
              </c:numCache>
            </c:numRef>
          </c:val>
          <c:extLst>
            <c:ext xmlns:c16="http://schemas.microsoft.com/office/drawing/2014/chart" uri="{C3380CC4-5D6E-409C-BE32-E72D297353CC}">
              <c16:uniqueId val="{00000001-E656-447F-9F2E-B72B53D5ACB7}"/>
            </c:ext>
          </c:extLst>
        </c:ser>
        <c:ser>
          <c:idx val="2"/>
          <c:order val="2"/>
          <c:tx>
            <c:strRef>
              <c:f>Sheet1!$D$1</c:f>
              <c:strCache>
                <c:ptCount val="1"/>
                <c:pt idx="0">
                  <c:v>CLAHE</c:v>
                </c:pt>
              </c:strCache>
            </c:strRef>
          </c:tx>
          <c:spPr>
            <a:solidFill>
              <a:srgbClr val="5B6573"/>
            </a:solidFill>
            <a:effectLst/>
          </c:spPr>
          <c:invertIfNegative val="0"/>
          <c:cat>
            <c:strRef>
              <c:f>Sheet1!$A$2:$A$4</c:f>
              <c:strCache>
                <c:ptCount val="3"/>
                <c:pt idx="0">
                  <c:v>Mild</c:v>
                </c:pt>
                <c:pt idx="1">
                  <c:v>Moderate</c:v>
                </c:pt>
                <c:pt idx="2">
                  <c:v>Severe</c:v>
                </c:pt>
              </c:strCache>
            </c:strRef>
          </c:cat>
          <c:val>
            <c:numRef>
              <c:f>Sheet1!$D$2:$D$4</c:f>
              <c:numCache>
                <c:formatCode>General</c:formatCode>
                <c:ptCount val="3"/>
                <c:pt idx="0">
                  <c:v>1865.7865203365832</c:v>
                </c:pt>
                <c:pt idx="1">
                  <c:v>5830.8677484206391</c:v>
                </c:pt>
                <c:pt idx="2">
                  <c:v>11137.446532014739</c:v>
                </c:pt>
              </c:numCache>
            </c:numRef>
          </c:val>
          <c:extLst>
            <c:ext xmlns:c16="http://schemas.microsoft.com/office/drawing/2014/chart" uri="{C3380CC4-5D6E-409C-BE32-E72D297353CC}">
              <c16:uniqueId val="{00000002-E656-447F-9F2E-B72B53D5ACB7}"/>
            </c:ext>
          </c:extLst>
        </c:ser>
        <c:ser>
          <c:idx val="3"/>
          <c:order val="3"/>
          <c:tx>
            <c:strRef>
              <c:f>Sheet1!$E$1</c:f>
              <c:strCache>
                <c:ptCount val="1"/>
                <c:pt idx="0">
                  <c:v>Fixed Gamma + CLAHE</c:v>
                </c:pt>
              </c:strCache>
            </c:strRef>
          </c:tx>
          <c:spPr>
            <a:solidFill>
              <a:srgbClr val="0B2545"/>
            </a:solidFill>
            <a:effectLst/>
          </c:spPr>
          <c:invertIfNegative val="0"/>
          <c:cat>
            <c:strRef>
              <c:f>Sheet1!$A$2:$A$4</c:f>
              <c:strCache>
                <c:ptCount val="3"/>
                <c:pt idx="0">
                  <c:v>Mild</c:v>
                </c:pt>
                <c:pt idx="1">
                  <c:v>Moderate</c:v>
                </c:pt>
                <c:pt idx="2">
                  <c:v>Severe</c:v>
                </c:pt>
              </c:strCache>
            </c:strRef>
          </c:cat>
          <c:val>
            <c:numRef>
              <c:f>Sheet1!$E$2:$E$4</c:f>
              <c:numCache>
                <c:formatCode>General</c:formatCode>
                <c:ptCount val="3"/>
                <c:pt idx="0">
                  <c:v>994.34843187202046</c:v>
                </c:pt>
                <c:pt idx="1">
                  <c:v>2083.1435344902038</c:v>
                </c:pt>
                <c:pt idx="2">
                  <c:v>5332.9527381882726</c:v>
                </c:pt>
              </c:numCache>
            </c:numRef>
          </c:val>
          <c:extLst>
            <c:ext xmlns:c16="http://schemas.microsoft.com/office/drawing/2014/chart" uri="{C3380CC4-5D6E-409C-BE32-E72D297353CC}">
              <c16:uniqueId val="{00000003-E656-447F-9F2E-B72B53D5ACB7}"/>
            </c:ext>
          </c:extLst>
        </c:ser>
        <c:ser>
          <c:idx val="4"/>
          <c:order val="4"/>
          <c:tx>
            <c:strRef>
              <c:f>Sheet1!$F$1</c:f>
              <c:strCache>
                <c:ptCount val="1"/>
                <c:pt idx="0">
                  <c:v>Proposed BCGAE</c:v>
                </c:pt>
              </c:strCache>
            </c:strRef>
          </c:tx>
          <c:spPr>
            <a:solidFill>
              <a:srgbClr val="0E8C8C"/>
            </a:solidFill>
            <a:effectLst/>
          </c:spPr>
          <c:invertIfNegative val="0"/>
          <c:cat>
            <c:strRef>
              <c:f>Sheet1!$A$2:$A$4</c:f>
              <c:strCache>
                <c:ptCount val="3"/>
                <c:pt idx="0">
                  <c:v>Mild</c:v>
                </c:pt>
                <c:pt idx="1">
                  <c:v>Moderate</c:v>
                </c:pt>
                <c:pt idx="2">
                  <c:v>Severe</c:v>
                </c:pt>
              </c:strCache>
            </c:strRef>
          </c:cat>
          <c:val>
            <c:numRef>
              <c:f>Sheet1!$F$2:$F$4</c:f>
              <c:numCache>
                <c:formatCode>General</c:formatCode>
                <c:ptCount val="3"/>
                <c:pt idx="0">
                  <c:v>1917.4904367198085</c:v>
                </c:pt>
                <c:pt idx="1">
                  <c:v>1873.4040567531715</c:v>
                </c:pt>
                <c:pt idx="2">
                  <c:v>1473.5182522033735</c:v>
                </c:pt>
              </c:numCache>
            </c:numRef>
          </c:val>
          <c:extLst>
            <c:ext xmlns:c16="http://schemas.microsoft.com/office/drawing/2014/chart" uri="{C3380CC4-5D6E-409C-BE32-E72D297353CC}">
              <c16:uniqueId val="{00000004-E656-447F-9F2E-B72B53D5ACB7}"/>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B6573"/>
                    </a:solidFill>
                    <a:latin typeface="+mn-lt"/>
                  </a:defRPr>
                </a:pPr>
                <a:r>
                  <a:rPr lang="en-US" sz="1100" b="0" i="0" u="none" strike="noStrike">
                    <a:solidFill>
                      <a:srgbClr val="5B6573"/>
                    </a:solidFill>
                    <a:latin typeface="+mn-lt"/>
                  </a:rPr>
                  <a:t>Low-light level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MSE</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PSNR (higher is better ↑)</a:t>
            </a:r>
          </a:p>
        </c:rich>
      </c:tx>
      <c:overlay val="0"/>
    </c:title>
    <c:autoTitleDeleted val="0"/>
    <c:plotArea>
      <c:layout/>
      <c:barChart>
        <c:barDir val="col"/>
        <c:grouping val="clustered"/>
        <c:varyColors val="0"/>
        <c:ser>
          <c:idx val="0"/>
          <c:order val="0"/>
          <c:tx>
            <c:strRef>
              <c:f>Sheet1!$B$1</c:f>
              <c:strCache>
                <c:ptCount val="1"/>
                <c:pt idx="0">
                  <c:v>Histogram Equalization</c:v>
                </c:pt>
              </c:strCache>
            </c:strRef>
          </c:tx>
          <c:spPr>
            <a:solidFill>
              <a:srgbClr val="E0A458"/>
            </a:solidFill>
            <a:effectLst/>
          </c:spPr>
          <c:invertIfNegative val="0"/>
          <c:cat>
            <c:strRef>
              <c:f>Sheet1!$A$2:$A$4</c:f>
              <c:strCache>
                <c:ptCount val="3"/>
                <c:pt idx="0">
                  <c:v>Mild</c:v>
                </c:pt>
                <c:pt idx="1">
                  <c:v>Moderate</c:v>
                </c:pt>
                <c:pt idx="2">
                  <c:v>Severe</c:v>
                </c:pt>
              </c:strCache>
            </c:strRef>
          </c:cat>
          <c:val>
            <c:numRef>
              <c:f>Sheet1!$B$2:$B$4</c:f>
              <c:numCache>
                <c:formatCode>General</c:formatCode>
                <c:ptCount val="3"/>
                <c:pt idx="0">
                  <c:v>18.31364824430068</c:v>
                </c:pt>
                <c:pt idx="1">
                  <c:v>18.132065502741671</c:v>
                </c:pt>
                <c:pt idx="2">
                  <c:v>17.295197864069252</c:v>
                </c:pt>
              </c:numCache>
            </c:numRef>
          </c:val>
          <c:extLst>
            <c:ext xmlns:c16="http://schemas.microsoft.com/office/drawing/2014/chart" uri="{C3380CC4-5D6E-409C-BE32-E72D297353CC}">
              <c16:uniqueId val="{00000000-585F-455A-8159-65630E44D97A}"/>
            </c:ext>
          </c:extLst>
        </c:ser>
        <c:ser>
          <c:idx val="1"/>
          <c:order val="1"/>
          <c:tx>
            <c:strRef>
              <c:f>Sheet1!$C$1</c:f>
              <c:strCache>
                <c:ptCount val="1"/>
                <c:pt idx="0">
                  <c:v>Gamma Correction</c:v>
                </c:pt>
              </c:strCache>
            </c:strRef>
          </c:tx>
          <c:spPr>
            <a:solidFill>
              <a:srgbClr val="A8B3C4"/>
            </a:solidFill>
            <a:effectLst/>
          </c:spPr>
          <c:invertIfNegative val="0"/>
          <c:cat>
            <c:strRef>
              <c:f>Sheet1!$A$2:$A$4</c:f>
              <c:strCache>
                <c:ptCount val="3"/>
                <c:pt idx="0">
                  <c:v>Mild</c:v>
                </c:pt>
                <c:pt idx="1">
                  <c:v>Moderate</c:v>
                </c:pt>
                <c:pt idx="2">
                  <c:v>Severe</c:v>
                </c:pt>
              </c:strCache>
            </c:strRef>
          </c:cat>
          <c:val>
            <c:numRef>
              <c:f>Sheet1!$C$2:$C$4</c:f>
              <c:numCache>
                <c:formatCode>General</c:formatCode>
                <c:ptCount val="3"/>
                <c:pt idx="0">
                  <c:v>18.826344236773487</c:v>
                </c:pt>
                <c:pt idx="1">
                  <c:v>12.647869841678084</c:v>
                </c:pt>
                <c:pt idx="2">
                  <c:v>9.3312075491604141</c:v>
                </c:pt>
              </c:numCache>
            </c:numRef>
          </c:val>
          <c:extLst>
            <c:ext xmlns:c16="http://schemas.microsoft.com/office/drawing/2014/chart" uri="{C3380CC4-5D6E-409C-BE32-E72D297353CC}">
              <c16:uniqueId val="{00000001-585F-455A-8159-65630E44D97A}"/>
            </c:ext>
          </c:extLst>
        </c:ser>
        <c:ser>
          <c:idx val="2"/>
          <c:order val="2"/>
          <c:tx>
            <c:strRef>
              <c:f>Sheet1!$D$1</c:f>
              <c:strCache>
                <c:ptCount val="1"/>
                <c:pt idx="0">
                  <c:v>CLAHE</c:v>
                </c:pt>
              </c:strCache>
            </c:strRef>
          </c:tx>
          <c:spPr>
            <a:solidFill>
              <a:srgbClr val="5B6573"/>
            </a:solidFill>
            <a:effectLst/>
          </c:spPr>
          <c:invertIfNegative val="0"/>
          <c:cat>
            <c:strRef>
              <c:f>Sheet1!$A$2:$A$4</c:f>
              <c:strCache>
                <c:ptCount val="3"/>
                <c:pt idx="0">
                  <c:v>Mild</c:v>
                </c:pt>
                <c:pt idx="1">
                  <c:v>Moderate</c:v>
                </c:pt>
                <c:pt idx="2">
                  <c:v>Severe</c:v>
                </c:pt>
              </c:strCache>
            </c:strRef>
          </c:cat>
          <c:val>
            <c:numRef>
              <c:f>Sheet1!$D$2:$D$4</c:f>
              <c:numCache>
                <c:formatCode>General</c:formatCode>
                <c:ptCount val="3"/>
                <c:pt idx="0">
                  <c:v>16.53374011496788</c:v>
                </c:pt>
                <c:pt idx="1">
                  <c:v>10.91558155140619</c:v>
                </c:pt>
                <c:pt idx="2">
                  <c:v>7.9742718450842371</c:v>
                </c:pt>
              </c:numCache>
            </c:numRef>
          </c:val>
          <c:extLst>
            <c:ext xmlns:c16="http://schemas.microsoft.com/office/drawing/2014/chart" uri="{C3380CC4-5D6E-409C-BE32-E72D297353CC}">
              <c16:uniqueId val="{00000002-585F-455A-8159-65630E44D97A}"/>
            </c:ext>
          </c:extLst>
        </c:ser>
        <c:ser>
          <c:idx val="3"/>
          <c:order val="3"/>
          <c:tx>
            <c:strRef>
              <c:f>Sheet1!$E$1</c:f>
              <c:strCache>
                <c:ptCount val="1"/>
                <c:pt idx="0">
                  <c:v>Fixed Gamma + CLAHE</c:v>
                </c:pt>
              </c:strCache>
            </c:strRef>
          </c:tx>
          <c:spPr>
            <a:solidFill>
              <a:srgbClr val="0B2545"/>
            </a:solidFill>
            <a:effectLst/>
          </c:spPr>
          <c:invertIfNegative val="0"/>
          <c:cat>
            <c:strRef>
              <c:f>Sheet1!$A$2:$A$4</c:f>
              <c:strCache>
                <c:ptCount val="3"/>
                <c:pt idx="0">
                  <c:v>Mild</c:v>
                </c:pt>
                <c:pt idx="1">
                  <c:v>Moderate</c:v>
                </c:pt>
                <c:pt idx="2">
                  <c:v>Severe</c:v>
                </c:pt>
              </c:strCache>
            </c:strRef>
          </c:cat>
          <c:val>
            <c:numRef>
              <c:f>Sheet1!$E$2:$E$4</c:f>
              <c:numCache>
                <c:formatCode>General</c:formatCode>
                <c:ptCount val="3"/>
                <c:pt idx="0">
                  <c:v>18.834197847638759</c:v>
                </c:pt>
                <c:pt idx="1">
                  <c:v>15.905477389507732</c:v>
                </c:pt>
                <c:pt idx="2">
                  <c:v>11.474258815447282</c:v>
                </c:pt>
              </c:numCache>
            </c:numRef>
          </c:val>
          <c:extLst>
            <c:ext xmlns:c16="http://schemas.microsoft.com/office/drawing/2014/chart" uri="{C3380CC4-5D6E-409C-BE32-E72D297353CC}">
              <c16:uniqueId val="{00000003-585F-455A-8159-65630E44D97A}"/>
            </c:ext>
          </c:extLst>
        </c:ser>
        <c:ser>
          <c:idx val="4"/>
          <c:order val="4"/>
          <c:tx>
            <c:strRef>
              <c:f>Sheet1!$F$1</c:f>
              <c:strCache>
                <c:ptCount val="1"/>
                <c:pt idx="0">
                  <c:v>Proposed BCGAE</c:v>
                </c:pt>
              </c:strCache>
            </c:strRef>
          </c:tx>
          <c:spPr>
            <a:solidFill>
              <a:srgbClr val="0E8C8C"/>
            </a:solidFill>
            <a:effectLst/>
          </c:spPr>
          <c:invertIfNegative val="0"/>
          <c:cat>
            <c:strRef>
              <c:f>Sheet1!$A$2:$A$4</c:f>
              <c:strCache>
                <c:ptCount val="3"/>
                <c:pt idx="0">
                  <c:v>Mild</c:v>
                </c:pt>
                <c:pt idx="1">
                  <c:v>Moderate</c:v>
                </c:pt>
                <c:pt idx="2">
                  <c:v>Severe</c:v>
                </c:pt>
              </c:strCache>
            </c:strRef>
          </c:cat>
          <c:val>
            <c:numRef>
              <c:f>Sheet1!$F$2:$F$4</c:f>
              <c:numCache>
                <c:formatCode>General</c:formatCode>
                <c:ptCount val="3"/>
                <c:pt idx="0">
                  <c:v>16.038824437979702</c:v>
                </c:pt>
                <c:pt idx="1">
                  <c:v>15.831853382025804</c:v>
                </c:pt>
                <c:pt idx="2">
                  <c:v>17.063193142237644</c:v>
                </c:pt>
              </c:numCache>
            </c:numRef>
          </c:val>
          <c:extLst>
            <c:ext xmlns:c16="http://schemas.microsoft.com/office/drawing/2014/chart" uri="{C3380CC4-5D6E-409C-BE32-E72D297353CC}">
              <c16:uniqueId val="{00000004-585F-455A-8159-65630E44D97A}"/>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B6573"/>
                    </a:solidFill>
                    <a:latin typeface="+mn-lt"/>
                  </a:defRPr>
                </a:pPr>
                <a:r>
                  <a:rPr lang="en-US" sz="1100" b="0" i="0" u="none" strike="noStrike">
                    <a:solidFill>
                      <a:srgbClr val="5B6573"/>
                    </a:solidFill>
                    <a:latin typeface="+mn-lt"/>
                  </a:rPr>
                  <a:t>Low-light level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PSNR (dB)</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SSIM (higher is better ↑)</a:t>
            </a:r>
          </a:p>
        </c:rich>
      </c:tx>
      <c:overlay val="0"/>
    </c:title>
    <c:autoTitleDeleted val="0"/>
    <c:plotArea>
      <c:layout/>
      <c:barChart>
        <c:barDir val="col"/>
        <c:grouping val="clustered"/>
        <c:varyColors val="0"/>
        <c:ser>
          <c:idx val="0"/>
          <c:order val="0"/>
          <c:tx>
            <c:strRef>
              <c:f>Sheet1!$B$1</c:f>
              <c:strCache>
                <c:ptCount val="1"/>
                <c:pt idx="0">
                  <c:v>Histogram Equalization</c:v>
                </c:pt>
              </c:strCache>
            </c:strRef>
          </c:tx>
          <c:spPr>
            <a:solidFill>
              <a:srgbClr val="E0A458"/>
            </a:solidFill>
            <a:effectLst/>
          </c:spPr>
          <c:invertIfNegative val="0"/>
          <c:cat>
            <c:strRef>
              <c:f>Sheet1!$A$2:$A$4</c:f>
              <c:strCache>
                <c:ptCount val="3"/>
                <c:pt idx="0">
                  <c:v>Mild</c:v>
                </c:pt>
                <c:pt idx="1">
                  <c:v>Moderate</c:v>
                </c:pt>
                <c:pt idx="2">
                  <c:v>Severe</c:v>
                </c:pt>
              </c:strCache>
            </c:strRef>
          </c:cat>
          <c:val>
            <c:numRef>
              <c:f>Sheet1!$B$2:$B$4</c:f>
              <c:numCache>
                <c:formatCode>General</c:formatCode>
                <c:ptCount val="3"/>
                <c:pt idx="0">
                  <c:v>0.84023891263064987</c:v>
                </c:pt>
                <c:pt idx="1">
                  <c:v>0.81916747178774241</c:v>
                </c:pt>
                <c:pt idx="2">
                  <c:v>0.7362274898609612</c:v>
                </c:pt>
              </c:numCache>
            </c:numRef>
          </c:val>
          <c:extLst>
            <c:ext xmlns:c16="http://schemas.microsoft.com/office/drawing/2014/chart" uri="{C3380CC4-5D6E-409C-BE32-E72D297353CC}">
              <c16:uniqueId val="{00000000-CE21-46DC-B10B-A5BADED417F0}"/>
            </c:ext>
          </c:extLst>
        </c:ser>
        <c:ser>
          <c:idx val="1"/>
          <c:order val="1"/>
          <c:tx>
            <c:strRef>
              <c:f>Sheet1!$C$1</c:f>
              <c:strCache>
                <c:ptCount val="1"/>
                <c:pt idx="0">
                  <c:v>Gamma Correction</c:v>
                </c:pt>
              </c:strCache>
            </c:strRef>
          </c:tx>
          <c:spPr>
            <a:solidFill>
              <a:srgbClr val="A8B3C4"/>
            </a:solidFill>
            <a:effectLst/>
          </c:spPr>
          <c:invertIfNegative val="0"/>
          <c:cat>
            <c:strRef>
              <c:f>Sheet1!$A$2:$A$4</c:f>
              <c:strCache>
                <c:ptCount val="3"/>
                <c:pt idx="0">
                  <c:v>Mild</c:v>
                </c:pt>
                <c:pt idx="1">
                  <c:v>Moderate</c:v>
                </c:pt>
                <c:pt idx="2">
                  <c:v>Severe</c:v>
                </c:pt>
              </c:strCache>
            </c:strRef>
          </c:cat>
          <c:val>
            <c:numRef>
              <c:f>Sheet1!$C$2:$C$4</c:f>
              <c:numCache>
                <c:formatCode>General</c:formatCode>
                <c:ptCount val="3"/>
                <c:pt idx="0">
                  <c:v>0.90278031000854075</c:v>
                </c:pt>
                <c:pt idx="1">
                  <c:v>0.73865975347709201</c:v>
                </c:pt>
                <c:pt idx="2">
                  <c:v>0.45943836172615538</c:v>
                </c:pt>
              </c:numCache>
            </c:numRef>
          </c:val>
          <c:extLst>
            <c:ext xmlns:c16="http://schemas.microsoft.com/office/drawing/2014/chart" uri="{C3380CC4-5D6E-409C-BE32-E72D297353CC}">
              <c16:uniqueId val="{00000001-CE21-46DC-B10B-A5BADED417F0}"/>
            </c:ext>
          </c:extLst>
        </c:ser>
        <c:ser>
          <c:idx val="2"/>
          <c:order val="2"/>
          <c:tx>
            <c:strRef>
              <c:f>Sheet1!$D$1</c:f>
              <c:strCache>
                <c:ptCount val="1"/>
                <c:pt idx="0">
                  <c:v>CLAHE</c:v>
                </c:pt>
              </c:strCache>
            </c:strRef>
          </c:tx>
          <c:spPr>
            <a:solidFill>
              <a:srgbClr val="5B6573"/>
            </a:solidFill>
            <a:effectLst/>
          </c:spPr>
          <c:invertIfNegative val="0"/>
          <c:cat>
            <c:strRef>
              <c:f>Sheet1!$A$2:$A$4</c:f>
              <c:strCache>
                <c:ptCount val="3"/>
                <c:pt idx="0">
                  <c:v>Mild</c:v>
                </c:pt>
                <c:pt idx="1">
                  <c:v>Moderate</c:v>
                </c:pt>
                <c:pt idx="2">
                  <c:v>Severe</c:v>
                </c:pt>
              </c:strCache>
            </c:strRef>
          </c:cat>
          <c:val>
            <c:numRef>
              <c:f>Sheet1!$D$2:$D$4</c:f>
              <c:numCache>
                <c:formatCode>General</c:formatCode>
                <c:ptCount val="3"/>
                <c:pt idx="0">
                  <c:v>0.91210976999480164</c:v>
                </c:pt>
                <c:pt idx="1">
                  <c:v>0.65555860430978075</c:v>
                </c:pt>
                <c:pt idx="2">
                  <c:v>0.27921552074780759</c:v>
                </c:pt>
              </c:numCache>
            </c:numRef>
          </c:val>
          <c:extLst>
            <c:ext xmlns:c16="http://schemas.microsoft.com/office/drawing/2014/chart" uri="{C3380CC4-5D6E-409C-BE32-E72D297353CC}">
              <c16:uniqueId val="{00000002-CE21-46DC-B10B-A5BADED417F0}"/>
            </c:ext>
          </c:extLst>
        </c:ser>
        <c:ser>
          <c:idx val="3"/>
          <c:order val="3"/>
          <c:tx>
            <c:strRef>
              <c:f>Sheet1!$E$1</c:f>
              <c:strCache>
                <c:ptCount val="1"/>
                <c:pt idx="0">
                  <c:v>Fixed Gamma + CLAHE</c:v>
                </c:pt>
              </c:strCache>
            </c:strRef>
          </c:tx>
          <c:spPr>
            <a:solidFill>
              <a:srgbClr val="0B2545"/>
            </a:solidFill>
            <a:effectLst/>
          </c:spPr>
          <c:invertIfNegative val="0"/>
          <c:cat>
            <c:strRef>
              <c:f>Sheet1!$A$2:$A$4</c:f>
              <c:strCache>
                <c:ptCount val="3"/>
                <c:pt idx="0">
                  <c:v>Mild</c:v>
                </c:pt>
                <c:pt idx="1">
                  <c:v>Moderate</c:v>
                </c:pt>
                <c:pt idx="2">
                  <c:v>Severe</c:v>
                </c:pt>
              </c:strCache>
            </c:strRef>
          </c:cat>
          <c:val>
            <c:numRef>
              <c:f>Sheet1!$E$2:$E$4</c:f>
              <c:numCache>
                <c:formatCode>General</c:formatCode>
                <c:ptCount val="3"/>
                <c:pt idx="0">
                  <c:v>0.88997188692011553</c:v>
                </c:pt>
                <c:pt idx="1">
                  <c:v>0.89462024571159071</c:v>
                </c:pt>
                <c:pt idx="2">
                  <c:v>0.70877657383814907</c:v>
                </c:pt>
              </c:numCache>
            </c:numRef>
          </c:val>
          <c:extLst>
            <c:ext xmlns:c16="http://schemas.microsoft.com/office/drawing/2014/chart" uri="{C3380CC4-5D6E-409C-BE32-E72D297353CC}">
              <c16:uniqueId val="{00000003-CE21-46DC-B10B-A5BADED417F0}"/>
            </c:ext>
          </c:extLst>
        </c:ser>
        <c:ser>
          <c:idx val="4"/>
          <c:order val="4"/>
          <c:tx>
            <c:strRef>
              <c:f>Sheet1!$F$1</c:f>
              <c:strCache>
                <c:ptCount val="1"/>
                <c:pt idx="0">
                  <c:v>Proposed BCGAE</c:v>
                </c:pt>
              </c:strCache>
            </c:strRef>
          </c:tx>
          <c:spPr>
            <a:solidFill>
              <a:srgbClr val="0E8C8C"/>
            </a:solidFill>
            <a:effectLst/>
          </c:spPr>
          <c:invertIfNegative val="0"/>
          <c:cat>
            <c:strRef>
              <c:f>Sheet1!$A$2:$A$4</c:f>
              <c:strCache>
                <c:ptCount val="3"/>
                <c:pt idx="0">
                  <c:v>Mild</c:v>
                </c:pt>
                <c:pt idx="1">
                  <c:v>Moderate</c:v>
                </c:pt>
                <c:pt idx="2">
                  <c:v>Severe</c:v>
                </c:pt>
              </c:strCache>
            </c:strRef>
          </c:cat>
          <c:val>
            <c:numRef>
              <c:f>Sheet1!$F$2:$F$4</c:f>
              <c:numCache>
                <c:formatCode>General</c:formatCode>
                <c:ptCount val="3"/>
                <c:pt idx="0">
                  <c:v>0.83185764721636413</c:v>
                </c:pt>
                <c:pt idx="1">
                  <c:v>0.82613448450663929</c:v>
                </c:pt>
                <c:pt idx="2">
                  <c:v>0.81561164627352745</c:v>
                </c:pt>
              </c:numCache>
            </c:numRef>
          </c:val>
          <c:extLst>
            <c:ext xmlns:c16="http://schemas.microsoft.com/office/drawing/2014/chart" uri="{C3380CC4-5D6E-409C-BE32-E72D297353CC}">
              <c16:uniqueId val="{00000004-CE21-46DC-B10B-A5BADED417F0}"/>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B6573"/>
                    </a:solidFill>
                    <a:latin typeface="+mn-lt"/>
                  </a:defRPr>
                </a:pPr>
                <a:r>
                  <a:rPr lang="en-US" sz="1100" b="0" i="0" u="none" strike="noStrike">
                    <a:solidFill>
                      <a:srgbClr val="5B6573"/>
                    </a:solidFill>
                    <a:latin typeface="+mn-lt"/>
                  </a:rPr>
                  <a:t>Low-light level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SSIM</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Entropy (descriptive)</a:t>
            </a:r>
          </a:p>
        </c:rich>
      </c:tx>
      <c:overlay val="0"/>
    </c:title>
    <c:autoTitleDeleted val="0"/>
    <c:plotArea>
      <c:layout/>
      <c:barChart>
        <c:barDir val="col"/>
        <c:grouping val="clustered"/>
        <c:varyColors val="0"/>
        <c:ser>
          <c:idx val="0"/>
          <c:order val="0"/>
          <c:tx>
            <c:strRef>
              <c:f>Sheet1!$B$1</c:f>
              <c:strCache>
                <c:ptCount val="1"/>
                <c:pt idx="0">
                  <c:v>Histogram Equalization</c:v>
                </c:pt>
              </c:strCache>
            </c:strRef>
          </c:tx>
          <c:spPr>
            <a:solidFill>
              <a:srgbClr val="E0A458"/>
            </a:solidFill>
            <a:effectLst/>
          </c:spPr>
          <c:invertIfNegative val="0"/>
          <c:cat>
            <c:strRef>
              <c:f>Sheet1!$A$2:$A$4</c:f>
              <c:strCache>
                <c:ptCount val="3"/>
                <c:pt idx="0">
                  <c:v>Mild</c:v>
                </c:pt>
                <c:pt idx="1">
                  <c:v>Moderate</c:v>
                </c:pt>
                <c:pt idx="2">
                  <c:v>Severe</c:v>
                </c:pt>
              </c:strCache>
            </c:strRef>
          </c:cat>
          <c:val>
            <c:numRef>
              <c:f>Sheet1!$B$2:$B$4</c:f>
              <c:numCache>
                <c:formatCode>General</c:formatCode>
                <c:ptCount val="3"/>
                <c:pt idx="0">
                  <c:v>7.7467616558074948</c:v>
                </c:pt>
                <c:pt idx="1">
                  <c:v>7.3945437431335446</c:v>
                </c:pt>
                <c:pt idx="2">
                  <c:v>6.184158134460449</c:v>
                </c:pt>
              </c:numCache>
            </c:numRef>
          </c:val>
          <c:extLst>
            <c:ext xmlns:c16="http://schemas.microsoft.com/office/drawing/2014/chart" uri="{C3380CC4-5D6E-409C-BE32-E72D297353CC}">
              <c16:uniqueId val="{00000000-4234-41C7-9B76-33A9EBE9D498}"/>
            </c:ext>
          </c:extLst>
        </c:ser>
        <c:ser>
          <c:idx val="1"/>
          <c:order val="1"/>
          <c:tx>
            <c:strRef>
              <c:f>Sheet1!$C$1</c:f>
              <c:strCache>
                <c:ptCount val="1"/>
                <c:pt idx="0">
                  <c:v>Gamma Correction</c:v>
                </c:pt>
              </c:strCache>
            </c:strRef>
          </c:tx>
          <c:spPr>
            <a:solidFill>
              <a:srgbClr val="A8B3C4"/>
            </a:solidFill>
            <a:effectLst/>
          </c:spPr>
          <c:invertIfNegative val="0"/>
          <c:cat>
            <c:strRef>
              <c:f>Sheet1!$A$2:$A$4</c:f>
              <c:strCache>
                <c:ptCount val="3"/>
                <c:pt idx="0">
                  <c:v>Mild</c:v>
                </c:pt>
                <c:pt idx="1">
                  <c:v>Moderate</c:v>
                </c:pt>
                <c:pt idx="2">
                  <c:v>Severe</c:v>
                </c:pt>
              </c:strCache>
            </c:strRef>
          </c:cat>
          <c:val>
            <c:numRef>
              <c:f>Sheet1!$C$2:$C$4</c:f>
              <c:numCache>
                <c:formatCode>General</c:formatCode>
                <c:ptCount val="3"/>
                <c:pt idx="0">
                  <c:v>6.776915502548218</c:v>
                </c:pt>
                <c:pt idx="1">
                  <c:v>6.1730602264404295</c:v>
                </c:pt>
                <c:pt idx="2">
                  <c:v>5.3257045745849609</c:v>
                </c:pt>
              </c:numCache>
            </c:numRef>
          </c:val>
          <c:extLst>
            <c:ext xmlns:c16="http://schemas.microsoft.com/office/drawing/2014/chart" uri="{C3380CC4-5D6E-409C-BE32-E72D297353CC}">
              <c16:uniqueId val="{00000001-4234-41C7-9B76-33A9EBE9D498}"/>
            </c:ext>
          </c:extLst>
        </c:ser>
        <c:ser>
          <c:idx val="2"/>
          <c:order val="2"/>
          <c:tx>
            <c:strRef>
              <c:f>Sheet1!$D$1</c:f>
              <c:strCache>
                <c:ptCount val="1"/>
                <c:pt idx="0">
                  <c:v>CLAHE</c:v>
                </c:pt>
              </c:strCache>
            </c:strRef>
          </c:tx>
          <c:spPr>
            <a:solidFill>
              <a:srgbClr val="5B6573"/>
            </a:solidFill>
            <a:effectLst/>
          </c:spPr>
          <c:invertIfNegative val="0"/>
          <c:cat>
            <c:strRef>
              <c:f>Sheet1!$A$2:$A$4</c:f>
              <c:strCache>
                <c:ptCount val="3"/>
                <c:pt idx="0">
                  <c:v>Mild</c:v>
                </c:pt>
                <c:pt idx="1">
                  <c:v>Moderate</c:v>
                </c:pt>
                <c:pt idx="2">
                  <c:v>Severe</c:v>
                </c:pt>
              </c:strCache>
            </c:strRef>
          </c:cat>
          <c:val>
            <c:numRef>
              <c:f>Sheet1!$D$2:$D$4</c:f>
              <c:numCache>
                <c:formatCode>General</c:formatCode>
                <c:ptCount val="3"/>
                <c:pt idx="0">
                  <c:v>7.1834539890289308</c:v>
                </c:pt>
                <c:pt idx="1">
                  <c:v>6.3769421577453613</c:v>
                </c:pt>
                <c:pt idx="2">
                  <c:v>4.9645936965942381</c:v>
                </c:pt>
              </c:numCache>
            </c:numRef>
          </c:val>
          <c:extLst>
            <c:ext xmlns:c16="http://schemas.microsoft.com/office/drawing/2014/chart" uri="{C3380CC4-5D6E-409C-BE32-E72D297353CC}">
              <c16:uniqueId val="{00000002-4234-41C7-9B76-33A9EBE9D498}"/>
            </c:ext>
          </c:extLst>
        </c:ser>
        <c:ser>
          <c:idx val="3"/>
          <c:order val="3"/>
          <c:tx>
            <c:strRef>
              <c:f>Sheet1!$E$1</c:f>
              <c:strCache>
                <c:ptCount val="1"/>
                <c:pt idx="0">
                  <c:v>Fixed Gamma + CLAHE</c:v>
                </c:pt>
              </c:strCache>
            </c:strRef>
          </c:tx>
          <c:spPr>
            <a:solidFill>
              <a:srgbClr val="0B2545"/>
            </a:solidFill>
            <a:effectLst/>
          </c:spPr>
          <c:invertIfNegative val="0"/>
          <c:cat>
            <c:strRef>
              <c:f>Sheet1!$A$2:$A$4</c:f>
              <c:strCache>
                <c:ptCount val="3"/>
                <c:pt idx="0">
                  <c:v>Mild</c:v>
                </c:pt>
                <c:pt idx="1">
                  <c:v>Moderate</c:v>
                </c:pt>
                <c:pt idx="2">
                  <c:v>Severe</c:v>
                </c:pt>
              </c:strCache>
            </c:strRef>
          </c:cat>
          <c:val>
            <c:numRef>
              <c:f>Sheet1!$E$2:$E$4</c:f>
              <c:numCache>
                <c:formatCode>General</c:formatCode>
                <c:ptCount val="3"/>
                <c:pt idx="0">
                  <c:v>7.3624624252319339</c:v>
                </c:pt>
                <c:pt idx="1">
                  <c:v>6.981884860992432</c:v>
                </c:pt>
                <c:pt idx="2">
                  <c:v>6.2991798877716061</c:v>
                </c:pt>
              </c:numCache>
            </c:numRef>
          </c:val>
          <c:extLst>
            <c:ext xmlns:c16="http://schemas.microsoft.com/office/drawing/2014/chart" uri="{C3380CC4-5D6E-409C-BE32-E72D297353CC}">
              <c16:uniqueId val="{00000003-4234-41C7-9B76-33A9EBE9D498}"/>
            </c:ext>
          </c:extLst>
        </c:ser>
        <c:ser>
          <c:idx val="4"/>
          <c:order val="4"/>
          <c:tx>
            <c:strRef>
              <c:f>Sheet1!$F$1</c:f>
              <c:strCache>
                <c:ptCount val="1"/>
                <c:pt idx="0">
                  <c:v>Proposed BCGAE</c:v>
                </c:pt>
              </c:strCache>
            </c:strRef>
          </c:tx>
          <c:spPr>
            <a:solidFill>
              <a:srgbClr val="0E8C8C"/>
            </a:solidFill>
            <a:effectLst/>
          </c:spPr>
          <c:invertIfNegative val="0"/>
          <c:cat>
            <c:strRef>
              <c:f>Sheet1!$A$2:$A$4</c:f>
              <c:strCache>
                <c:ptCount val="3"/>
                <c:pt idx="0">
                  <c:v>Mild</c:v>
                </c:pt>
                <c:pt idx="1">
                  <c:v>Moderate</c:v>
                </c:pt>
                <c:pt idx="2">
                  <c:v>Severe</c:v>
                </c:pt>
              </c:strCache>
            </c:strRef>
          </c:cat>
          <c:val>
            <c:numRef>
              <c:f>Sheet1!$F$2:$F$4</c:f>
              <c:numCache>
                <c:formatCode>General</c:formatCode>
                <c:ptCount val="3"/>
                <c:pt idx="0">
                  <c:v>7.4144191741943359</c:v>
                </c:pt>
                <c:pt idx="1">
                  <c:v>7.1768954753875729</c:v>
                </c:pt>
                <c:pt idx="2">
                  <c:v>6.8913037300109865</c:v>
                </c:pt>
              </c:numCache>
            </c:numRef>
          </c:val>
          <c:extLst>
            <c:ext xmlns:c16="http://schemas.microsoft.com/office/drawing/2014/chart" uri="{C3380CC4-5D6E-409C-BE32-E72D297353CC}">
              <c16:uniqueId val="{00000004-4234-41C7-9B76-33A9EBE9D498}"/>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B6573"/>
                    </a:solidFill>
                    <a:latin typeface="+mn-lt"/>
                  </a:defRPr>
                </a:pPr>
                <a:r>
                  <a:rPr lang="en-US" sz="1100" b="0" i="0" u="none" strike="noStrike">
                    <a:solidFill>
                      <a:srgbClr val="5B6573"/>
                    </a:solidFill>
                    <a:latin typeface="+mn-lt"/>
                  </a:rPr>
                  <a:t>Low-light level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Entropy (bits)</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Contrast (descriptive)</a:t>
            </a:r>
          </a:p>
        </c:rich>
      </c:tx>
      <c:overlay val="0"/>
    </c:title>
    <c:autoTitleDeleted val="0"/>
    <c:plotArea>
      <c:layout/>
      <c:barChart>
        <c:barDir val="col"/>
        <c:grouping val="clustered"/>
        <c:varyColors val="0"/>
        <c:ser>
          <c:idx val="0"/>
          <c:order val="0"/>
          <c:tx>
            <c:strRef>
              <c:f>Sheet1!$B$1</c:f>
              <c:strCache>
                <c:ptCount val="1"/>
                <c:pt idx="0">
                  <c:v>Histogram Equalization</c:v>
                </c:pt>
              </c:strCache>
            </c:strRef>
          </c:tx>
          <c:spPr>
            <a:solidFill>
              <a:srgbClr val="E0A458"/>
            </a:solidFill>
            <a:effectLst/>
          </c:spPr>
          <c:invertIfNegative val="0"/>
          <c:cat>
            <c:strRef>
              <c:f>Sheet1!$A$2:$A$4</c:f>
              <c:strCache>
                <c:ptCount val="3"/>
                <c:pt idx="0">
                  <c:v>Mild</c:v>
                </c:pt>
                <c:pt idx="1">
                  <c:v>Moderate</c:v>
                </c:pt>
                <c:pt idx="2">
                  <c:v>Severe</c:v>
                </c:pt>
              </c:strCache>
            </c:strRef>
          </c:cat>
          <c:val>
            <c:numRef>
              <c:f>Sheet1!$B$2:$B$4</c:f>
              <c:numCache>
                <c:formatCode>General</c:formatCode>
                <c:ptCount val="3"/>
                <c:pt idx="0">
                  <c:v>71.981326016150959</c:v>
                </c:pt>
                <c:pt idx="1">
                  <c:v>71.61354245916047</c:v>
                </c:pt>
                <c:pt idx="2">
                  <c:v>70.911815357280346</c:v>
                </c:pt>
              </c:numCache>
            </c:numRef>
          </c:val>
          <c:extLst>
            <c:ext xmlns:c16="http://schemas.microsoft.com/office/drawing/2014/chart" uri="{C3380CC4-5D6E-409C-BE32-E72D297353CC}">
              <c16:uniqueId val="{00000000-49B2-4133-AB06-70CC34928213}"/>
            </c:ext>
          </c:extLst>
        </c:ser>
        <c:ser>
          <c:idx val="1"/>
          <c:order val="1"/>
          <c:tx>
            <c:strRef>
              <c:f>Sheet1!$C$1</c:f>
              <c:strCache>
                <c:ptCount val="1"/>
                <c:pt idx="0">
                  <c:v>Gamma Correction</c:v>
                </c:pt>
              </c:strCache>
            </c:strRef>
          </c:tx>
          <c:spPr>
            <a:solidFill>
              <a:srgbClr val="A8B3C4"/>
            </a:solidFill>
            <a:effectLst/>
          </c:spPr>
          <c:invertIfNegative val="0"/>
          <c:cat>
            <c:strRef>
              <c:f>Sheet1!$A$2:$A$4</c:f>
              <c:strCache>
                <c:ptCount val="3"/>
                <c:pt idx="0">
                  <c:v>Mild</c:v>
                </c:pt>
                <c:pt idx="1">
                  <c:v>Moderate</c:v>
                </c:pt>
                <c:pt idx="2">
                  <c:v>Severe</c:v>
                </c:pt>
              </c:strCache>
            </c:strRef>
          </c:cat>
          <c:val>
            <c:numRef>
              <c:f>Sheet1!$C$2:$C$4</c:f>
              <c:numCache>
                <c:formatCode>General</c:formatCode>
                <c:ptCount val="3"/>
                <c:pt idx="0">
                  <c:v>33.728186150827113</c:v>
                </c:pt>
                <c:pt idx="1">
                  <c:v>22.299713693055629</c:v>
                </c:pt>
                <c:pt idx="2">
                  <c:v>13.059192449296379</c:v>
                </c:pt>
              </c:numCache>
            </c:numRef>
          </c:val>
          <c:extLst>
            <c:ext xmlns:c16="http://schemas.microsoft.com/office/drawing/2014/chart" uri="{C3380CC4-5D6E-409C-BE32-E72D297353CC}">
              <c16:uniqueId val="{00000001-49B2-4133-AB06-70CC34928213}"/>
            </c:ext>
          </c:extLst>
        </c:ser>
        <c:ser>
          <c:idx val="2"/>
          <c:order val="2"/>
          <c:tx>
            <c:strRef>
              <c:f>Sheet1!$D$1</c:f>
              <c:strCache>
                <c:ptCount val="1"/>
                <c:pt idx="0">
                  <c:v>CLAHE</c:v>
                </c:pt>
              </c:strCache>
            </c:strRef>
          </c:tx>
          <c:spPr>
            <a:solidFill>
              <a:srgbClr val="5B6573"/>
            </a:solidFill>
            <a:effectLst/>
          </c:spPr>
          <c:invertIfNegative val="0"/>
          <c:cat>
            <c:strRef>
              <c:f>Sheet1!$A$2:$A$4</c:f>
              <c:strCache>
                <c:ptCount val="3"/>
                <c:pt idx="0">
                  <c:v>Mild</c:v>
                </c:pt>
                <c:pt idx="1">
                  <c:v>Moderate</c:v>
                </c:pt>
                <c:pt idx="2">
                  <c:v>Severe</c:v>
                </c:pt>
              </c:strCache>
            </c:strRef>
          </c:cat>
          <c:val>
            <c:numRef>
              <c:f>Sheet1!$D$2:$D$4</c:f>
              <c:numCache>
                <c:formatCode>General</c:formatCode>
                <c:ptCount val="3"/>
                <c:pt idx="0">
                  <c:v>43.467774736537145</c:v>
                </c:pt>
                <c:pt idx="1">
                  <c:v>26.068747285073066</c:v>
                </c:pt>
                <c:pt idx="2">
                  <c:v>9.17732757719671</c:v>
                </c:pt>
              </c:numCache>
            </c:numRef>
          </c:val>
          <c:extLst>
            <c:ext xmlns:c16="http://schemas.microsoft.com/office/drawing/2014/chart" uri="{C3380CC4-5D6E-409C-BE32-E72D297353CC}">
              <c16:uniqueId val="{00000002-49B2-4133-AB06-70CC34928213}"/>
            </c:ext>
          </c:extLst>
        </c:ser>
        <c:ser>
          <c:idx val="3"/>
          <c:order val="3"/>
          <c:tx>
            <c:strRef>
              <c:f>Sheet1!$E$1</c:f>
              <c:strCache>
                <c:ptCount val="1"/>
                <c:pt idx="0">
                  <c:v>Fixed Gamma + CLAHE</c:v>
                </c:pt>
              </c:strCache>
            </c:strRef>
          </c:tx>
          <c:spPr>
            <a:solidFill>
              <a:srgbClr val="0B2545"/>
            </a:solidFill>
            <a:effectLst/>
          </c:spPr>
          <c:invertIfNegative val="0"/>
          <c:cat>
            <c:strRef>
              <c:f>Sheet1!$A$2:$A$4</c:f>
              <c:strCache>
                <c:ptCount val="3"/>
                <c:pt idx="0">
                  <c:v>Mild</c:v>
                </c:pt>
                <c:pt idx="1">
                  <c:v>Moderate</c:v>
                </c:pt>
                <c:pt idx="2">
                  <c:v>Severe</c:v>
                </c:pt>
              </c:strCache>
            </c:strRef>
          </c:cat>
          <c:val>
            <c:numRef>
              <c:f>Sheet1!$E$2:$E$4</c:f>
              <c:numCache>
                <c:formatCode>General</c:formatCode>
                <c:ptCount val="3"/>
                <c:pt idx="0">
                  <c:v>45.576731261551558</c:v>
                </c:pt>
                <c:pt idx="1">
                  <c:v>35.411575781401126</c:v>
                </c:pt>
                <c:pt idx="2">
                  <c:v>22.785464718871676</c:v>
                </c:pt>
              </c:numCache>
            </c:numRef>
          </c:val>
          <c:extLst>
            <c:ext xmlns:c16="http://schemas.microsoft.com/office/drawing/2014/chart" uri="{C3380CC4-5D6E-409C-BE32-E72D297353CC}">
              <c16:uniqueId val="{00000003-49B2-4133-AB06-70CC34928213}"/>
            </c:ext>
          </c:extLst>
        </c:ser>
        <c:ser>
          <c:idx val="4"/>
          <c:order val="4"/>
          <c:tx>
            <c:strRef>
              <c:f>Sheet1!$F$1</c:f>
              <c:strCache>
                <c:ptCount val="1"/>
                <c:pt idx="0">
                  <c:v>Proposed BCGAE</c:v>
                </c:pt>
              </c:strCache>
            </c:strRef>
          </c:tx>
          <c:spPr>
            <a:solidFill>
              <a:srgbClr val="0E8C8C"/>
            </a:solidFill>
            <a:effectLst/>
          </c:spPr>
          <c:invertIfNegative val="0"/>
          <c:cat>
            <c:strRef>
              <c:f>Sheet1!$A$2:$A$4</c:f>
              <c:strCache>
                <c:ptCount val="3"/>
                <c:pt idx="0">
                  <c:v>Mild</c:v>
                </c:pt>
                <c:pt idx="1">
                  <c:v>Moderate</c:v>
                </c:pt>
                <c:pt idx="2">
                  <c:v>Severe</c:v>
                </c:pt>
              </c:strCache>
            </c:strRef>
          </c:cat>
          <c:val>
            <c:numRef>
              <c:f>Sheet1!$F$2:$F$4</c:f>
              <c:numCache>
                <c:formatCode>General</c:formatCode>
                <c:ptCount val="3"/>
                <c:pt idx="0">
                  <c:v>47.05547112485025</c:v>
                </c:pt>
                <c:pt idx="1">
                  <c:v>40.909992449763735</c:v>
                </c:pt>
                <c:pt idx="2">
                  <c:v>33.569960789793313</c:v>
                </c:pt>
              </c:numCache>
            </c:numRef>
          </c:val>
          <c:extLst>
            <c:ext xmlns:c16="http://schemas.microsoft.com/office/drawing/2014/chart" uri="{C3380CC4-5D6E-409C-BE32-E72D297353CC}">
              <c16:uniqueId val="{00000004-49B2-4133-AB06-70CC34928213}"/>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B6573"/>
                    </a:solidFill>
                    <a:latin typeface="+mn-lt"/>
                  </a:defRPr>
                </a:pPr>
                <a:r>
                  <a:rPr lang="en-US" sz="1100" b="0" i="0" u="none" strike="noStrike">
                    <a:solidFill>
                      <a:srgbClr val="5B6573"/>
                    </a:solidFill>
                    <a:latin typeface="+mn-lt"/>
                  </a:rPr>
                  <a:t>Low-light level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Contrast (luminance std. dev.)</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2545"/>
                </a:solidFill>
                <a:latin typeface="+mn-lt"/>
              </a:defRPr>
            </a:pPr>
            <a:r>
              <a:rPr lang="en-US" sz="1400" b="1" i="0" u="none" strike="noStrike">
                <a:solidFill>
                  <a:srgbClr val="0B2545"/>
                </a:solidFill>
                <a:latin typeface="+mn-lt"/>
              </a:rPr>
              <a:t>Runtime per image (ms, lower is faster)</a:t>
            </a:r>
          </a:p>
        </c:rich>
      </c:tx>
      <c:overlay val="0"/>
    </c:title>
    <c:autoTitleDeleted val="0"/>
    <c:plotArea>
      <c:layout/>
      <c:barChart>
        <c:barDir val="col"/>
        <c:grouping val="clustered"/>
        <c:varyColors val="0"/>
        <c:ser>
          <c:idx val="0"/>
          <c:order val="0"/>
          <c:tx>
            <c:strRef>
              <c:f>Sheet1!$B$1</c:f>
              <c:strCache>
                <c:ptCount val="1"/>
                <c:pt idx="0">
                  <c:v>Mean</c:v>
                </c:pt>
              </c:strCache>
            </c:strRef>
          </c:tx>
          <c:spPr>
            <a:solidFill>
              <a:srgbClr val="0B2545"/>
            </a:solidFill>
            <a:effectLst/>
          </c:spPr>
          <c:invertIfNegative val="0"/>
          <c:dLbls>
            <c:numFmt formatCode="0.0" sourceLinked="0"/>
            <c:spPr>
              <a:noFill/>
              <a:ln>
                <a:noFill/>
              </a:ln>
              <a:effectLst/>
            </c:spPr>
            <c:txPr>
              <a:bodyPr/>
              <a:lstStyle/>
              <a:p>
                <a:pPr>
                  <a:defRPr sz="9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Gamma</c:v>
                </c:pt>
                <c:pt idx="1">
                  <c:v>HE</c:v>
                </c:pt>
                <c:pt idx="2">
                  <c:v>CLAHE</c:v>
                </c:pt>
                <c:pt idx="3">
                  <c:v>G + CLAHE</c:v>
                </c:pt>
                <c:pt idx="4">
                  <c:v>BCGAE</c:v>
                </c:pt>
              </c:strCache>
            </c:strRef>
          </c:cat>
          <c:val>
            <c:numRef>
              <c:f>Sheet1!$B$2:$B$6</c:f>
              <c:numCache>
                <c:formatCode>General</c:formatCode>
                <c:ptCount val="5"/>
                <c:pt idx="0">
                  <c:v>0.54432000014154858</c:v>
                </c:pt>
                <c:pt idx="1">
                  <c:v>3.1670140001612404</c:v>
                </c:pt>
                <c:pt idx="2">
                  <c:v>3.3108606665822058</c:v>
                </c:pt>
                <c:pt idx="3">
                  <c:v>3.8929233334298874</c:v>
                </c:pt>
                <c:pt idx="4">
                  <c:v>6.7703079998803632</c:v>
                </c:pt>
              </c:numCache>
            </c:numRef>
          </c:val>
          <c:extLst>
            <c:ext xmlns:c16="http://schemas.microsoft.com/office/drawing/2014/chart" uri="{C3380CC4-5D6E-409C-BE32-E72D297353CC}">
              <c16:uniqueId val="{00000000-7B08-4600-90D6-E1EE353BF347}"/>
            </c:ext>
          </c:extLst>
        </c:ser>
        <c:ser>
          <c:idx val="1"/>
          <c:order val="1"/>
          <c:tx>
            <c:strRef>
              <c:f>Sheet1!$C$1</c:f>
              <c:strCache>
                <c:ptCount val="1"/>
                <c:pt idx="0">
                  <c:v>Median</c:v>
                </c:pt>
              </c:strCache>
            </c:strRef>
          </c:tx>
          <c:spPr>
            <a:solidFill>
              <a:srgbClr val="0E8C8C"/>
            </a:solidFill>
            <a:effectLst/>
          </c:spPr>
          <c:invertIfNegative val="0"/>
          <c:dLbls>
            <c:numFmt formatCode="0.0" sourceLinked="0"/>
            <c:spPr>
              <a:noFill/>
              <a:ln>
                <a:noFill/>
              </a:ln>
              <a:effectLst/>
            </c:spPr>
            <c:txPr>
              <a:bodyPr/>
              <a:lstStyle/>
              <a:p>
                <a:pPr>
                  <a:defRPr sz="9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Gamma</c:v>
                </c:pt>
                <c:pt idx="1">
                  <c:v>HE</c:v>
                </c:pt>
                <c:pt idx="2">
                  <c:v>CLAHE</c:v>
                </c:pt>
                <c:pt idx="3">
                  <c:v>G + CLAHE</c:v>
                </c:pt>
                <c:pt idx="4">
                  <c:v>BCGAE</c:v>
                </c:pt>
              </c:strCache>
            </c:strRef>
          </c:cat>
          <c:val>
            <c:numRef>
              <c:f>Sheet1!$C$2:$C$6</c:f>
              <c:numCache>
                <c:formatCode>General</c:formatCode>
                <c:ptCount val="5"/>
                <c:pt idx="0">
                  <c:v>0.30815000063739711</c:v>
                </c:pt>
                <c:pt idx="1">
                  <c:v>1.7879299994092437</c:v>
                </c:pt>
                <c:pt idx="2">
                  <c:v>1.8346800003200769</c:v>
                </c:pt>
                <c:pt idx="3">
                  <c:v>2.2335000001476142</c:v>
                </c:pt>
                <c:pt idx="4">
                  <c:v>3.7659899986465462</c:v>
                </c:pt>
              </c:numCache>
            </c:numRef>
          </c:val>
          <c:extLst>
            <c:ext xmlns:c16="http://schemas.microsoft.com/office/drawing/2014/chart" uri="{C3380CC4-5D6E-409C-BE32-E72D297353CC}">
              <c16:uniqueId val="{00000001-7B08-4600-90D6-E1EE353BF347}"/>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5B6573"/>
                    </a:solidFill>
                    <a:latin typeface="+mn-lt"/>
                  </a:defRPr>
                </a:pPr>
                <a:r>
                  <a:rPr lang="en-US" sz="1100" b="0" i="0" u="none" strike="noStrike">
                    <a:solidFill>
                      <a:srgbClr val="5B6573"/>
                    </a:solidFill>
                    <a:latin typeface="+mn-lt"/>
                  </a:rPr>
                  <a:t>Time (ms)</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999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Introduce the project and show one real input/output pair from my experiments.
- My project is "Brightness and Contrast Guided Adaptive Enhancement for Low-Light Images", or BCGAE for short.
- It is a classical Digital Image Processing approach: gamma correction and CLAHE, with parameters chosen from each image's own brightness and contrast. No neural-network training.
- The pair on the right is a real sample from my evaluation set: a severely darkened image and the BCGAE output.
TRANSITION: First, why does low-light enhancement matter?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Low light hides information, and simply making an image brighter is not the same as improving it.
- Applications: night photography, surveillance, road monitoring, dim indoor scenes, general photo improvement.
- The three panels show the same scene: the original, a severely darkened version, and the BCGAE result from my experiments.
- Classical enhancement reshapes intensities so structures become visible. But brightening cannot bring back detail that was lost, and it can add artifacts, which we will see in the results.
TECHNICAL TERM: Intensity = the brightness value of a pixel, 0 (black) to 255 (white) for 8-bit images.
TRANSITION: So what is wrong with the usual fixed-parameter methods?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Fixed parameters are the weak point; this project asks whether adapting them to each image helps.
- A fixed method applies the same settings to a very dark image and a moderately dark one. That can under-enhance one and over-enhance another.
- Over-enhancement can show up as noise amplification, artifacts or unnatural appearance.
- I am not saying existing methods fail in every case. The research question is whether adaptive selection gives more CONSISTENT behaviour, and the results later in the deck test that.
TECHNICAL TERMS: CLAHE = Contrast Limited Adaptive Histogram Equalization. Clip limit = the cap on local contrast amplification.
TRANSITION: Here are my objectives, scope and evaluation setup.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Five objectives and a small, reproducible, controlled experiment.
- The evaluation uses 10 images, each darkened at 3 levels (Mild, Moderate, Severe), and processed by 5 methods. That gives 10 x 3 x 5 = 150 cases.
- The clean original of each image is the reference for the metrics.
- Scope is classical only. Synthetic darkening makes the comparison controlled but does not include real sensor noise or colour shifts, so results may not transfer directly to real camera images.
TRANSITION: What does the literature say?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The building blocks are established; this project combines and evaluates them.
- [1] Pizer et al. introduced adaptive histogram equalization and discussed its variations, which is where contrast-limited equalization comes from. [2] Zuiderveld gives the CLAHE algorithm with its clip limit; that clip limit is one of the two parameters BCGAE chooses.
- [3] Wang et al. and [4] Guo et al. are a review and a survey of low-light enhancement methods. They show the field is much wider than my four baselines, so I treat my work as a small classical study, not a state-of-the-art claim.
- BCGAE is a project-specific heuristic, not a new algorithm.
TRANSITION: Now the four baseline methods in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Four standard methods that BCGAE is compared against.
- Histogram equalization spreads intensities over the full range; simple, but global, so it can over-enhance.
- Gamma correction: I_out = I_in raised to gamma, with intensity scaled to 0-1. Gamma below 1 brightens, above 1 darkens. One fixed gamma cannot suit all images.
- CLAHE equalizes small tiles and clips the histogram to limit noise amplification. Results depend on clip limit and tile size.
- Method 4 applies a fixed gamma then CLAHE. Combining does not automatically make it better.
- The small images are real outputs on one severely darkened image.
TRANSITION: BCGAE replaces the fixed settings with image-dependent 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BCGAE measures each image first, then chooses gamma and the CLAHE clip limit from those measurements.
- Flow: convert to luminance, measure brightness B (mean) and contrast C (standard deviation), choose gamma, apply gamma, choose the CLAHE clip limit, apply CLAHE, then rebuild the colour image.
- B = (1/N) times the sum of I(x,y): the mean luminance. C is the standard deviation of luminance, a simple global contrast measure; it does not describe local contrast.
- The selection rule is written f(B, C): it is a project-specific heuristic. Darker images receive stronger brightening. I do not claim these settings are optimal.
- Difference from baselines: baselines use the same settings for every image; BCGAE lets each image decide.
TRANSITION: Let us look at what each method actually produced.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The same severely darkened image processed by every method, next to the clean reference.
- HE gives strong contrast but saturates the bright sky and looks flattened in places.
- Gamma and CLAHE leave much of the image dark at this severity.
- Fixed Gamma + CLAHE is brighter but still dim.
- BCGAE recovers the most brightness in dark regions, but the dark background shows blocky, colour-tinted patches. That is an artifact of the method on this image, and an honest limitation.
- This is a single example. The numbers on the next slides cover all 150 cases.
TRANSITION: Now the quantitative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How close each method's output is to the clean reference, at each degradation level (mean of 10 images).
- MSE: lower is better. At Severe, BCGAE has the lowest MSE (1473.5), HE is next (1704.6), and CLAHE is far higher (11137.4).
- PSNR: higher is better. At Severe, HE is slightly higher (17.30 dB) than BCGAE (17.06 dB).
- SSIM: higher is better. At Severe, BCGAE is highest (0.816). At Mild, CLAHE is highest (0.912) and BCGAE is lowest (0.832).
- Notice how the baselines (especially CLAHE and Gamma) fall sharply as degradation gets worse, while BCGAE's SSIM barely changes.
TRANSITION: Next, the descriptive metrics and runtime.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Descriptive metrics and cost. These are not "higher is better" scores.
- Entropy: HE is highest at Mild and Moderate (7.75 and 7.39). At Severe, BCGAE has the highest entropy (6.89).
- Contrast (luminance standard deviation): HE stays around 71 to 72 at every level, which reflects a very strong stretch, and in the sample image that came with saturated regions. BCGAE ranges from 47.1 (Mild) to 33.6 (Severe).
- Runtime (mean over 30 timings per method: 10 images x 3 levels): Gamma 0.54 ms, HE 3.17, CLAHE 3.31, fixed Gamma + CLAHE 3.89, BCGAE 6.77 ms mean (3.77 ms median). So BCGAE is about 2.1 times HE in mean time. One image (IMG3_Elephant) took much longer for every method, which pulls the means above the medians.
- Timing depends on the hardware and software environment, so treat it as relative cost, not an absolute speed claim.
TRANSITION: Here is everything in one 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One table with the mean MSE, PSNR and SSIM for every method at every level. BCGAE is best on some severe-level metrics, not on all.
- Read it level by level, using the three bullets at the bottom.
- Remember: MSE lower is better; PSNR and SSIM higher is better.
- The table is rounded for display; values come directly from mean_metrics_by_level.csv.
FULL MEAN VALUES (from the CSV):
Mild: Histogram Equalization MSE 1246.0920, PSNR 18.3136 dB, SSIM 0.840239, Entropy 7.7468, Contrast 71.9813; Gamma Correction MSE 985.0557, PSNR 18.8263 dB, SSIM 0.902780, Entropy 6.7769, Contrast 33.7282; CLAHE MSE 1865.7865, PSNR 16.5337 dB, SSIM 0.912110, Entropy 7.1835, Contrast 43.4678; Fixed Gamma + CLAHE MSE 994.3484, PSNR 18.8342 dB, SSIM 0.889972, Entropy 7.3625, Contrast 45.5767; Proposed BCGAE MSE 1917.4904, PSNR 16.0388 dB, SSIM 0.831858, Entropy 7.4144, Contrast 47.0555
Moderate: Histogram Equalization MSE 1330.8520, PSNR 18.1321 dB, SSIM 0.819167, Entropy 7.3945, Contrast 71.6135; Gamma Correction MSE 3903.4195, PSNR 12.6479 dB, SSIM 0.738660, Entropy 6.1731, Contrast 22.2997; CLAHE MSE 5830.8677, PSNR 10.9156 dB, SSIM 0.655559, Entropy 6.3769, Contrast 26.0687; Fixed Gamma + CLAHE MSE 2083.1435, PSNR 15.9055 dB, SSIM 0.894620, Entropy 6.9819, Contrast 35.4116; Proposed BCGAE MSE 1873.4041, PSNR 15.8319 dB, SSIM 0.826134, Entropy 7.1769, Contrast 40.9100
Severe: Histogram Equalization MSE 1704.5814, PSNR 17.2952 dB, SSIM 0.736227, Entropy 6.1842, Contrast 70.9118; Gamma Correction MSE 8184.5969, PSNR 9.3312 dB, SSIM 0.459438, Entropy 5.3257, Contrast 13.0592; CLAHE MSE 11137.4465, PSNR 7.9743 dB, SSIM 0.279216, Entropy 4.9646, Contrast 9.1773; Fixed Gamma + CLAHE MSE 5332.9527, PSNR 11.4743 dB, SSIM 0.708777, Entropy 6.2992, Contrast 22.7855; Proposed BCGAE MSE 1473.5183, PSNR 17.0632 dB, SSIM 0.815612, Entropy 6.8913, Contrast 33.5700
TRANSITION: What does this tell us about trade-offs?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BCGAE is competitive and consistent, not universally best.
- Visibility vs similarity: a method can look brighter and still be less similar to the clean reference, and the reverse. I report both.
- Consistency: BCGAE's SSIM changes by only 0.016 across levels, compared with 0.104 for HE, 0.186 for fixed Gamma + CLAHE and 0.633 for CLAHE. That supports the idea of image-dependent parameters. HE is similarly steady in PSNR, so I do not claim consistency as an advantage on every metric.
- Per-image: at Severe, BCGAE has the best SSIM on 7 of 10 images and the lowest MSE on 4 of 10. At Mild it is best on none, so simpler methods are better when the image is only lightly degraded.
- Entropy and contrast are descriptive. Very high contrast, as in HE, does not mean a better image.
- Cost: BCGAE is about 2.1 times HE in mean runtime (6.77 vs 3.17 ms), measured in my environment.
TRANSITION: Finally, the limitations and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Be honest about the limits, then summarise.
- Limitations: darkening is synthetic; only 10 images and 3 levels; the heuristic is not tuned or validated beyond this set; the sample shows visible artifacts; and reference-based metrics do not capture everything about perceived quality.
- Future work: real low-light photos, local brightness estimation, noise-aware parameters, validation on held-out images, artifact reduction, a larger dataset and perceptual metrics, and comparison with other method families reviewed in [3] and [4].
- Conclusion: BCGAE was competitive at Severe degradation and most stable in SSIM, but not best on all metrics, and worst at Mild. It is a project-specific heuristic, not a new algorithm.
TRANSITION: These are my references.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IDEA: Every in-slide citation [1]-[4] maps to one entry here.
- [1] and [2] are the foundational adaptive histogram equalization and CLAHE references; [3] and [4] are a review and a survey of low-light enhancement.
- Close by thanking the audience and inviting questions.
POSSIBLE QUESTIONS: Why is BCGAE worse at Mild? (The data show it; a possible reason is that light degradation needs little correction while the heuristic still adjusts the image. That is a hypothesis I have not tested.) Why synthetic darkening? (It gives a clean reference for controlled comparison; real images are future work.) Why is runtime higher? (It computes B and C and selects parameters before enhancing.)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lgn="l">
              <a:buNone/>
              <a:defRPr lang="en-US" sz="3000" b="1" dirty="0">
                <a:solidFill>
                  <a:srgbClr val="0B2545"/>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txBox="1"/>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B6573"/>
                </a:solidFill>
              </a:rPr>
              <a:t>BCGAE  |  Digital Image Processing  |  VIT-AP University</a:t>
            </a:r>
            <a:endParaRPr lang="en-US" sz="10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g"/><Relationship Id="rId7"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1.jpg"/><Relationship Id="rId9"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6949440" cy="320040"/>
          </a:xfrm>
          <a:prstGeom prst="rect">
            <a:avLst/>
          </a:prstGeom>
          <a:noFill/>
          <a:ln/>
        </p:spPr>
        <p:txBody>
          <a:bodyPr wrap="square" lIns="0" tIns="0" rIns="0" bIns="0" rtlCol="0" anchor="t"/>
          <a:lstStyle/>
          <a:p>
            <a:pPr marL="0" indent="0">
              <a:buNone/>
            </a:pPr>
            <a:r>
              <a:rPr lang="en-US" sz="1300" b="1" kern="0" spc="200" dirty="0">
                <a:solidFill>
                  <a:srgbClr val="7FD6D3"/>
                </a:solidFill>
              </a:rPr>
              <a:t>DIGITAL IMAGE PROCESSING  ·  </a:t>
            </a:r>
            <a:r>
              <a:rPr lang="en-US" sz="1300" b="1" kern="0" spc="200" dirty="0" err="1">
                <a:solidFill>
                  <a:srgbClr val="7FD6D3"/>
                </a:solidFill>
              </a:rPr>
              <a:t>B.Tech</a:t>
            </a:r>
            <a:r>
              <a:rPr lang="en-US" sz="1300" b="1" kern="0" spc="200" dirty="0">
                <a:solidFill>
                  <a:srgbClr val="7FD6D3"/>
                </a:solidFill>
              </a:rPr>
              <a:t> RESEARCH PROJECT</a:t>
            </a:r>
            <a:endParaRPr lang="en-US" sz="1300" dirty="0"/>
          </a:p>
        </p:txBody>
      </p:sp>
      <p:sp>
        <p:nvSpPr>
          <p:cNvPr id="3" name="Text 1"/>
          <p:cNvSpPr txBox="1"/>
          <p:nvPr/>
        </p:nvSpPr>
        <p:spPr>
          <a:xfrm>
            <a:off x="640080" y="1005840"/>
            <a:ext cx="6583680" cy="228600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Brightness and Contrast Guided Adaptive Enhancement for Low-Light Images</a:t>
            </a:r>
            <a:endParaRPr lang="en-US" sz="3800" dirty="0"/>
          </a:p>
        </p:txBody>
      </p:sp>
      <p:sp>
        <p:nvSpPr>
          <p:cNvPr id="4" name="Text 2"/>
          <p:cNvSpPr txBox="1"/>
          <p:nvPr/>
        </p:nvSpPr>
        <p:spPr>
          <a:xfrm>
            <a:off x="640080" y="3429000"/>
            <a:ext cx="6583680" cy="457200"/>
          </a:xfrm>
          <a:prstGeom prst="rect">
            <a:avLst/>
          </a:prstGeom>
          <a:noFill/>
          <a:ln/>
        </p:spPr>
        <p:txBody>
          <a:bodyPr wrap="square" lIns="0" tIns="0" rIns="0" bIns="0" rtlCol="0" anchor="t"/>
          <a:lstStyle/>
          <a:p>
            <a:pPr marL="0" indent="0">
              <a:buNone/>
            </a:pPr>
            <a:r>
              <a:rPr lang="en-US" sz="2000" i="1" dirty="0">
                <a:solidFill>
                  <a:srgbClr val="7FD6D3"/>
                </a:solidFill>
              </a:rPr>
              <a:t>A Classical Digital Image Processing Approach</a:t>
            </a:r>
            <a:endParaRPr lang="en-US" sz="2000" dirty="0"/>
          </a:p>
        </p:txBody>
      </p:sp>
      <p:sp>
        <p:nvSpPr>
          <p:cNvPr id="5" name="Text 3"/>
          <p:cNvSpPr txBox="1"/>
          <p:nvPr/>
        </p:nvSpPr>
        <p:spPr>
          <a:xfrm>
            <a:off x="640080" y="4114800"/>
            <a:ext cx="6766560" cy="2194560"/>
          </a:xfrm>
          <a:prstGeom prst="rect">
            <a:avLst/>
          </a:prstGeom>
          <a:noFill/>
          <a:ln/>
        </p:spPr>
        <p:txBody>
          <a:bodyPr wrap="square" lIns="0" tIns="0" rIns="0" bIns="0" rtlCol="0" anchor="t"/>
          <a:lstStyle/>
          <a:p>
            <a:pPr marL="0" indent="0">
              <a:spcAft>
                <a:spcPts val="400"/>
              </a:spcAft>
              <a:buNone/>
            </a:pPr>
            <a:r>
              <a:rPr lang="en-US" sz="1400" dirty="0">
                <a:solidFill>
                  <a:srgbClr val="A9B8CC"/>
                </a:solidFill>
              </a:rPr>
              <a:t>Student Name:  </a:t>
            </a:r>
            <a:r>
              <a:rPr lang="en-US" sz="1400" b="1" dirty="0">
                <a:solidFill>
                  <a:srgbClr val="FFFFFF"/>
                </a:solidFill>
              </a:rPr>
              <a:t>Syed Shaheer Hussain</a:t>
            </a:r>
            <a:endParaRPr lang="en-US" sz="1400" dirty="0"/>
          </a:p>
          <a:p>
            <a:pPr marL="0" indent="0">
              <a:spcAft>
                <a:spcPts val="400"/>
              </a:spcAft>
              <a:buNone/>
            </a:pPr>
            <a:r>
              <a:rPr lang="en-US" sz="1400" dirty="0">
                <a:solidFill>
                  <a:srgbClr val="A9B8CC"/>
                </a:solidFill>
              </a:rPr>
              <a:t>Register Number:  </a:t>
            </a:r>
            <a:r>
              <a:rPr lang="en-US" sz="1400" b="1" dirty="0">
                <a:solidFill>
                  <a:srgbClr val="FFFFFF"/>
                </a:solidFill>
              </a:rPr>
              <a:t>23BEC7146</a:t>
            </a:r>
            <a:endParaRPr lang="en-US" sz="1400" dirty="0"/>
          </a:p>
          <a:p>
            <a:pPr marL="0" indent="0">
              <a:spcAft>
                <a:spcPts val="400"/>
              </a:spcAft>
              <a:buNone/>
            </a:pPr>
            <a:r>
              <a:rPr lang="en-US" sz="1400" dirty="0">
                <a:solidFill>
                  <a:srgbClr val="A9B8CC"/>
                </a:solidFill>
              </a:rPr>
              <a:t>Department:  </a:t>
            </a:r>
            <a:r>
              <a:rPr lang="en-US" sz="1400" b="1" dirty="0">
                <a:solidFill>
                  <a:srgbClr val="FFFFFF"/>
                </a:solidFill>
              </a:rPr>
              <a:t>AI &amp; ML</a:t>
            </a:r>
            <a:endParaRPr lang="en-US" sz="1400" dirty="0"/>
          </a:p>
          <a:p>
            <a:pPr marL="0" indent="0">
              <a:spcAft>
                <a:spcPts val="400"/>
              </a:spcAft>
              <a:buNone/>
            </a:pPr>
            <a:r>
              <a:rPr lang="en-US" sz="1400" dirty="0">
                <a:solidFill>
                  <a:srgbClr val="A9B8CC"/>
                </a:solidFill>
              </a:rPr>
              <a:t>Institution:  </a:t>
            </a:r>
            <a:r>
              <a:rPr lang="en-US" sz="1400" b="1" dirty="0">
                <a:solidFill>
                  <a:srgbClr val="FFFFFF"/>
                </a:solidFill>
              </a:rPr>
              <a:t>VIT-AP University</a:t>
            </a:r>
            <a:endParaRPr lang="en-US" sz="1400" dirty="0"/>
          </a:p>
          <a:p>
            <a:pPr marL="0" indent="0">
              <a:spcAft>
                <a:spcPts val="400"/>
              </a:spcAft>
              <a:buNone/>
            </a:pPr>
            <a:r>
              <a:rPr lang="en-US" sz="1400" dirty="0">
                <a:solidFill>
                  <a:srgbClr val="A9B8CC"/>
                </a:solidFill>
              </a:rPr>
              <a:t>Course:  </a:t>
            </a:r>
            <a:r>
              <a:rPr lang="en-US" sz="1400" b="1" dirty="0">
                <a:solidFill>
                  <a:srgbClr val="FFFFFF"/>
                </a:solidFill>
              </a:rPr>
              <a:t>Digital Image Processing</a:t>
            </a:r>
            <a:endParaRPr lang="en-US" sz="1400" dirty="0"/>
          </a:p>
          <a:p>
            <a:pPr marL="0" indent="0">
              <a:spcAft>
                <a:spcPts val="400"/>
              </a:spcAft>
              <a:buNone/>
            </a:pPr>
            <a:r>
              <a:rPr lang="en-US" sz="1400" dirty="0">
                <a:solidFill>
                  <a:srgbClr val="A9B8CC"/>
                </a:solidFill>
              </a:rPr>
              <a:t>Faculty:  </a:t>
            </a:r>
            <a:r>
              <a:rPr lang="en-US" sz="1400" b="1" dirty="0">
                <a:solidFill>
                  <a:srgbClr val="FFFFFF"/>
                </a:solidFill>
              </a:rPr>
              <a:t>Dr. M. Sucharitha</a:t>
            </a:r>
            <a:endParaRPr lang="en-US" sz="1400" dirty="0"/>
          </a:p>
          <a:p>
            <a:pPr marL="0" indent="0">
              <a:spcAft>
                <a:spcPts val="400"/>
              </a:spcAft>
              <a:buNone/>
            </a:pPr>
            <a:r>
              <a:rPr lang="en-US" sz="1400" dirty="0">
                <a:solidFill>
                  <a:srgbClr val="A9B8CC"/>
                </a:solidFill>
              </a:rPr>
              <a:t>Academic Year:  </a:t>
            </a:r>
            <a:r>
              <a:rPr lang="en-US" sz="1400" b="1" dirty="0">
                <a:solidFill>
                  <a:srgbClr val="FFFFFF"/>
                </a:solidFill>
              </a:rPr>
              <a:t>2026–2027</a:t>
            </a:r>
            <a:endParaRPr lang="en-US" sz="1400" dirty="0"/>
          </a:p>
        </p:txBody>
      </p:sp>
      <p:pic>
        <p:nvPicPr>
          <p:cNvPr id="6" name="Low-light input" descr="p/low.jpg"/>
          <p:cNvPicPr>
            <a:picLocks noChangeAspect="1"/>
          </p:cNvPicPr>
          <p:nvPr/>
        </p:nvPicPr>
        <p:blipFill>
          <a:blip r:embed="rId3"/>
          <a:stretch>
            <a:fillRect/>
          </a:stretch>
        </p:blipFill>
        <p:spPr>
          <a:xfrm>
            <a:off x="7406640" y="2103120"/>
            <a:ext cx="1920240" cy="1276960"/>
          </a:xfrm>
          <a:prstGeom prst="rect">
            <a:avLst/>
          </a:prstGeom>
        </p:spPr>
      </p:pic>
      <p:pic>
        <p:nvPicPr>
          <p:cNvPr id="7" name="BCGAE output" descr="p/bcgae.jpg"/>
          <p:cNvPicPr>
            <a:picLocks noChangeAspect="1"/>
          </p:cNvPicPr>
          <p:nvPr/>
        </p:nvPicPr>
        <p:blipFill>
          <a:blip r:embed="rId4"/>
          <a:stretch>
            <a:fillRect/>
          </a:stretch>
        </p:blipFill>
        <p:spPr>
          <a:xfrm>
            <a:off x="9601200" y="2103120"/>
            <a:ext cx="1920240" cy="1276960"/>
          </a:xfrm>
          <a:prstGeom prst="rect">
            <a:avLst/>
          </a:prstGeom>
        </p:spPr>
      </p:pic>
      <p:sp>
        <p:nvSpPr>
          <p:cNvPr id="8" name="arrow"/>
          <p:cNvSpPr/>
          <p:nvPr/>
        </p:nvSpPr>
        <p:spPr>
          <a:xfrm>
            <a:off x="9326880" y="2697480"/>
            <a:ext cx="274320" cy="0"/>
          </a:xfrm>
          <a:prstGeom prst="line">
            <a:avLst/>
          </a:prstGeom>
          <a:noFill/>
          <a:ln w="22225">
            <a:solidFill>
              <a:srgbClr val="7FD6D3"/>
            </a:solidFill>
            <a:prstDash val="solid"/>
            <a:tailEnd type="triangle"/>
          </a:ln>
        </p:spPr>
      </p:sp>
      <p:sp>
        <p:nvSpPr>
          <p:cNvPr id="9" name="Text 5"/>
          <p:cNvSpPr txBox="1"/>
          <p:nvPr/>
        </p:nvSpPr>
        <p:spPr>
          <a:xfrm>
            <a:off x="7406640" y="3474720"/>
            <a:ext cx="1920240" cy="274320"/>
          </a:xfrm>
          <a:prstGeom prst="rect">
            <a:avLst/>
          </a:prstGeom>
          <a:noFill/>
          <a:ln/>
        </p:spPr>
        <p:txBody>
          <a:bodyPr wrap="square" lIns="0" tIns="0" rIns="0" bIns="0" rtlCol="0" anchor="t"/>
          <a:lstStyle/>
          <a:p>
            <a:pPr marL="0" indent="0" algn="ctr">
              <a:buNone/>
            </a:pPr>
            <a:r>
              <a:rPr lang="en-US" sz="1300" dirty="0">
                <a:solidFill>
                  <a:srgbClr val="FFFFFF"/>
                </a:solidFill>
              </a:rPr>
              <a:t>Severe low-light input</a:t>
            </a:r>
            <a:endParaRPr lang="en-US" sz="1300" dirty="0"/>
          </a:p>
        </p:txBody>
      </p:sp>
      <p:sp>
        <p:nvSpPr>
          <p:cNvPr id="10" name="Text 6"/>
          <p:cNvSpPr txBox="1"/>
          <p:nvPr/>
        </p:nvSpPr>
        <p:spPr>
          <a:xfrm>
            <a:off x="9601200" y="3474720"/>
            <a:ext cx="1920240" cy="274320"/>
          </a:xfrm>
          <a:prstGeom prst="rect">
            <a:avLst/>
          </a:prstGeom>
          <a:noFill/>
          <a:ln/>
        </p:spPr>
        <p:txBody>
          <a:bodyPr wrap="square" lIns="0" tIns="0" rIns="0" bIns="0" rtlCol="0" anchor="t"/>
          <a:lstStyle/>
          <a:p>
            <a:pPr marL="0" indent="0" algn="ctr">
              <a:buNone/>
            </a:pPr>
            <a:r>
              <a:rPr lang="en-US" sz="1300" dirty="0">
                <a:solidFill>
                  <a:srgbClr val="FFFFFF"/>
                </a:solidFill>
              </a:rPr>
              <a:t>BCGAE output</a:t>
            </a:r>
            <a:endParaRPr lang="en-US" sz="1300" dirty="0"/>
          </a:p>
        </p:txBody>
      </p:sp>
      <p:sp>
        <p:nvSpPr>
          <p:cNvPr id="11" name="Text 7"/>
          <p:cNvSpPr txBox="1"/>
          <p:nvPr/>
        </p:nvSpPr>
        <p:spPr>
          <a:xfrm>
            <a:off x="7406639" y="3931920"/>
            <a:ext cx="4310231" cy="228595"/>
          </a:xfrm>
          <a:prstGeom prst="rect">
            <a:avLst/>
          </a:prstGeom>
          <a:noFill/>
          <a:ln/>
        </p:spPr>
        <p:txBody>
          <a:bodyPr wrap="square" lIns="0" tIns="0" rIns="0" bIns="0" rtlCol="0" anchor="t"/>
          <a:lstStyle/>
          <a:p>
            <a:pPr marL="0" indent="0">
              <a:buNone/>
            </a:pPr>
            <a:r>
              <a:rPr lang="en-US" sz="1100" dirty="0">
                <a:solidFill>
                  <a:srgbClr val="A9B8CC"/>
                </a:solidFill>
              </a:rPr>
              <a:t>Sample from the project evaluation set (IMG10_Sunflower, Severe level).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Introduction: Why Low-Light Enhancement Matters</a:t>
            </a:r>
            <a:endParaRPr lang="en-US" sz="3000" dirty="0"/>
          </a:p>
        </p:txBody>
      </p:sp>
      <p:pic>
        <p:nvPicPr>
          <p:cNvPr id="3" name="Normal illumination (reference)" descr="p/ref.jpg"/>
          <p:cNvPicPr>
            <a:picLocks noChangeAspect="1"/>
          </p:cNvPicPr>
          <p:nvPr/>
        </p:nvPicPr>
        <p:blipFill>
          <a:blip r:embed="rId3"/>
          <a:stretch>
            <a:fillRect/>
          </a:stretch>
        </p:blipFill>
        <p:spPr>
          <a:xfrm>
            <a:off x="548640" y="1280160"/>
            <a:ext cx="2743200" cy="1824228"/>
          </a:xfrm>
          <a:prstGeom prst="rect">
            <a:avLst/>
          </a:prstGeom>
        </p:spPr>
      </p:pic>
      <p:sp>
        <p:nvSpPr>
          <p:cNvPr id="4" name="Text 1"/>
          <p:cNvSpPr txBox="1"/>
          <p:nvPr/>
        </p:nvSpPr>
        <p:spPr>
          <a:xfrm>
            <a:off x="457200" y="3200400"/>
            <a:ext cx="2926080" cy="274320"/>
          </a:xfrm>
          <a:prstGeom prst="rect">
            <a:avLst/>
          </a:prstGeom>
          <a:noFill/>
          <a:ln/>
        </p:spPr>
        <p:txBody>
          <a:bodyPr wrap="square" lIns="0" tIns="0" rIns="0" bIns="0" rtlCol="0" anchor="t"/>
          <a:lstStyle/>
          <a:p>
            <a:pPr marL="0" indent="0" algn="ctr">
              <a:buNone/>
            </a:pPr>
            <a:r>
              <a:rPr lang="en-US" sz="1200" b="1" dirty="0">
                <a:solidFill>
                  <a:srgbClr val="0B2545"/>
                </a:solidFill>
              </a:rPr>
              <a:t>Normal illumination (reference)</a:t>
            </a:r>
            <a:endParaRPr lang="en-US" sz="1200" dirty="0"/>
          </a:p>
        </p:txBody>
      </p:sp>
      <p:pic>
        <p:nvPicPr>
          <p:cNvPr id="5" name="Severe low-light input (synthetic)" descr="p/low.jpg"/>
          <p:cNvPicPr>
            <a:picLocks noChangeAspect="1"/>
          </p:cNvPicPr>
          <p:nvPr/>
        </p:nvPicPr>
        <p:blipFill>
          <a:blip r:embed="rId4"/>
          <a:stretch>
            <a:fillRect/>
          </a:stretch>
        </p:blipFill>
        <p:spPr>
          <a:xfrm>
            <a:off x="3429000" y="1280160"/>
            <a:ext cx="2743200" cy="1824228"/>
          </a:xfrm>
          <a:prstGeom prst="rect">
            <a:avLst/>
          </a:prstGeom>
        </p:spPr>
      </p:pic>
      <p:sp>
        <p:nvSpPr>
          <p:cNvPr id="6" name="Text 2"/>
          <p:cNvSpPr txBox="1"/>
          <p:nvPr/>
        </p:nvSpPr>
        <p:spPr>
          <a:xfrm>
            <a:off x="3337560" y="3200400"/>
            <a:ext cx="2926080" cy="274320"/>
          </a:xfrm>
          <a:prstGeom prst="rect">
            <a:avLst/>
          </a:prstGeom>
          <a:noFill/>
          <a:ln/>
        </p:spPr>
        <p:txBody>
          <a:bodyPr wrap="square" lIns="0" tIns="0" rIns="0" bIns="0" rtlCol="0" anchor="t"/>
          <a:lstStyle/>
          <a:p>
            <a:pPr marL="0" indent="0" algn="ctr">
              <a:buNone/>
            </a:pPr>
            <a:r>
              <a:rPr lang="en-US" sz="1200" b="1" dirty="0">
                <a:solidFill>
                  <a:srgbClr val="0B2545"/>
                </a:solidFill>
              </a:rPr>
              <a:t>Severe low-light input (synthetic)</a:t>
            </a:r>
            <a:endParaRPr lang="en-US" sz="1200" dirty="0"/>
          </a:p>
        </p:txBody>
      </p:sp>
      <p:pic>
        <p:nvPicPr>
          <p:cNvPr id="7" name="Enhanced (BCGAE output)" descr="p/bcgae.jpg"/>
          <p:cNvPicPr>
            <a:picLocks noChangeAspect="1"/>
          </p:cNvPicPr>
          <p:nvPr/>
        </p:nvPicPr>
        <p:blipFill>
          <a:blip r:embed="rId5"/>
          <a:stretch>
            <a:fillRect/>
          </a:stretch>
        </p:blipFill>
        <p:spPr>
          <a:xfrm>
            <a:off x="6309360" y="1280160"/>
            <a:ext cx="2743200" cy="1824228"/>
          </a:xfrm>
          <a:prstGeom prst="rect">
            <a:avLst/>
          </a:prstGeom>
        </p:spPr>
      </p:pic>
      <p:sp>
        <p:nvSpPr>
          <p:cNvPr id="8" name="Text 3"/>
          <p:cNvSpPr txBox="1"/>
          <p:nvPr/>
        </p:nvSpPr>
        <p:spPr>
          <a:xfrm>
            <a:off x="6217920" y="3200400"/>
            <a:ext cx="2926080" cy="274320"/>
          </a:xfrm>
          <a:prstGeom prst="rect">
            <a:avLst/>
          </a:prstGeom>
          <a:noFill/>
          <a:ln/>
        </p:spPr>
        <p:txBody>
          <a:bodyPr wrap="square" lIns="0" tIns="0" rIns="0" bIns="0" rtlCol="0" anchor="t"/>
          <a:lstStyle/>
          <a:p>
            <a:pPr marL="0" indent="0" algn="ctr">
              <a:buNone/>
            </a:pPr>
            <a:r>
              <a:rPr lang="en-US" sz="1200" b="1" dirty="0">
                <a:solidFill>
                  <a:srgbClr val="0E8C8C"/>
                </a:solidFill>
              </a:rPr>
              <a:t>Enhanced (BCGAE output)</a:t>
            </a:r>
            <a:endParaRPr lang="en-US" sz="1200" dirty="0"/>
          </a:p>
        </p:txBody>
      </p:sp>
      <p:sp>
        <p:nvSpPr>
          <p:cNvPr id="9" name="Text 4"/>
          <p:cNvSpPr txBox="1"/>
          <p:nvPr/>
        </p:nvSpPr>
        <p:spPr>
          <a:xfrm>
            <a:off x="548640" y="3520440"/>
            <a:ext cx="8503920" cy="274320"/>
          </a:xfrm>
          <a:prstGeom prst="rect">
            <a:avLst/>
          </a:prstGeom>
          <a:noFill/>
          <a:ln/>
        </p:spPr>
        <p:txBody>
          <a:bodyPr wrap="square" lIns="0" tIns="0" rIns="0" bIns="0" rtlCol="0" anchor="t"/>
          <a:lstStyle/>
          <a:p>
            <a:pPr marL="0" indent="0">
              <a:buNone/>
            </a:pPr>
            <a:r>
              <a:rPr lang="en-US" sz="1100" dirty="0">
                <a:solidFill>
                  <a:srgbClr val="5B6573"/>
                </a:solidFill>
              </a:rPr>
              <a:t>Same scene in all panels: IMG10_Sunflower from the project dataset.</a:t>
            </a:r>
            <a:endParaRPr lang="en-US" sz="1100" dirty="0"/>
          </a:p>
        </p:txBody>
      </p:sp>
      <p:sp>
        <p:nvSpPr>
          <p:cNvPr id="10" name="card"/>
          <p:cNvSpPr/>
          <p:nvPr/>
        </p:nvSpPr>
        <p:spPr>
          <a:xfrm>
            <a:off x="548640" y="4023360"/>
            <a:ext cx="8503920" cy="2240280"/>
          </a:xfrm>
          <a:prstGeom prst="rect">
            <a:avLst/>
          </a:prstGeom>
          <a:solidFill>
            <a:srgbClr val="F1F5F9"/>
          </a:solidFill>
          <a:ln/>
        </p:spPr>
      </p:sp>
      <p:sp>
        <p:nvSpPr>
          <p:cNvPr id="11" name="Text 6"/>
          <p:cNvSpPr txBox="1"/>
          <p:nvPr/>
        </p:nvSpPr>
        <p:spPr>
          <a:xfrm>
            <a:off x="777240" y="4206240"/>
            <a:ext cx="8046720" cy="1920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F2937"/>
                </a:solidFill>
              </a:rPr>
              <a:t>Insufficient illumination reduces visibility and can hide important details</a:t>
            </a:r>
            <a:endParaRPr lang="en-US" sz="1700" dirty="0"/>
          </a:p>
          <a:p>
            <a:pPr marL="342900" indent="-342900">
              <a:spcAft>
                <a:spcPts val="1200"/>
              </a:spcAft>
              <a:buSzPct val="100000"/>
              <a:buChar char="•"/>
            </a:pPr>
            <a:r>
              <a:rPr lang="en-US" sz="1700" dirty="0">
                <a:solidFill>
                  <a:srgbClr val="1F2937"/>
                </a:solidFill>
              </a:rPr>
              <a:t>Classical enhancement improves visibility of structures and intensity variations</a:t>
            </a:r>
            <a:endParaRPr lang="en-US" sz="1700" dirty="0"/>
          </a:p>
          <a:p>
            <a:pPr marL="342900" indent="-342900">
              <a:spcAft>
                <a:spcPts val="1200"/>
              </a:spcAft>
              <a:buSzPct val="100000"/>
              <a:buChar char="•"/>
            </a:pPr>
            <a:r>
              <a:rPr lang="en-US" sz="1700" dirty="0">
                <a:solidFill>
                  <a:srgbClr val="1F2937"/>
                </a:solidFill>
              </a:rPr>
              <a:t>Brightening alone does not recover lost information or guarantee better quality</a:t>
            </a:r>
            <a:endParaRPr lang="en-US" sz="1700" dirty="0"/>
          </a:p>
        </p:txBody>
      </p:sp>
      <p:sp>
        <p:nvSpPr>
          <p:cNvPr id="12" name="card"/>
          <p:cNvSpPr/>
          <p:nvPr/>
        </p:nvSpPr>
        <p:spPr>
          <a:xfrm>
            <a:off x="9326880" y="1280160"/>
            <a:ext cx="2313432" cy="4983480"/>
          </a:xfrm>
          <a:prstGeom prst="rect">
            <a:avLst/>
          </a:prstGeom>
          <a:solidFill>
            <a:srgbClr val="0B2545"/>
          </a:solidFill>
          <a:ln/>
        </p:spPr>
      </p:sp>
      <p:sp>
        <p:nvSpPr>
          <p:cNvPr id="13" name="Text 8"/>
          <p:cNvSpPr txBox="1"/>
          <p:nvPr/>
        </p:nvSpPr>
        <p:spPr>
          <a:xfrm>
            <a:off x="9509760" y="1417320"/>
            <a:ext cx="2011680" cy="3657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Applications</a:t>
            </a:r>
            <a:endParaRPr lang="en-US" sz="1800" dirty="0"/>
          </a:p>
        </p:txBody>
      </p:sp>
      <p:sp>
        <p:nvSpPr>
          <p:cNvPr id="14" name="Text 9"/>
          <p:cNvSpPr txBox="1"/>
          <p:nvPr/>
        </p:nvSpPr>
        <p:spPr>
          <a:xfrm>
            <a:off x="9509760" y="1920240"/>
            <a:ext cx="2011680" cy="42062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rPr>
              <a:t>Nighttime photography</a:t>
            </a:r>
            <a:endParaRPr lang="en-US" sz="1400" dirty="0"/>
          </a:p>
          <a:p>
            <a:pPr marL="342900" indent="-342900">
              <a:spcAft>
                <a:spcPts val="1200"/>
              </a:spcAft>
              <a:buSzPct val="100000"/>
              <a:buChar char="•"/>
            </a:pPr>
            <a:r>
              <a:rPr lang="en-US" sz="1400" dirty="0">
                <a:solidFill>
                  <a:srgbClr val="FFFFFF"/>
                </a:solidFill>
              </a:rPr>
              <a:t>Surveillance and security imaging</a:t>
            </a:r>
            <a:endParaRPr lang="en-US" sz="1400" dirty="0"/>
          </a:p>
          <a:p>
            <a:pPr marL="342900" indent="-342900">
              <a:spcAft>
                <a:spcPts val="1200"/>
              </a:spcAft>
              <a:buSzPct val="100000"/>
              <a:buChar char="•"/>
            </a:pPr>
            <a:r>
              <a:rPr lang="en-US" sz="1400" dirty="0">
                <a:solidFill>
                  <a:srgbClr val="FFFFFF"/>
                </a:solidFill>
              </a:rPr>
              <a:t>Road and traffic monitoring</a:t>
            </a:r>
            <a:endParaRPr lang="en-US" sz="1400" dirty="0"/>
          </a:p>
          <a:p>
            <a:pPr marL="342900" indent="-342900">
              <a:spcAft>
                <a:spcPts val="1200"/>
              </a:spcAft>
              <a:buSzPct val="100000"/>
              <a:buChar char="•"/>
            </a:pPr>
            <a:r>
              <a:rPr lang="en-US" sz="1400" dirty="0">
                <a:solidFill>
                  <a:srgbClr val="FFFFFF"/>
                </a:solidFill>
              </a:rPr>
              <a:t>Low-illumination indoor imaging</a:t>
            </a:r>
            <a:endParaRPr lang="en-US" sz="1400" dirty="0"/>
          </a:p>
          <a:p>
            <a:pPr marL="342900" indent="-342900">
              <a:spcAft>
                <a:spcPts val="1200"/>
              </a:spcAft>
              <a:buSzPct val="100000"/>
              <a:buChar char="•"/>
            </a:pPr>
            <a:r>
              <a:rPr lang="en-US" sz="1400" dirty="0">
                <a:solidFill>
                  <a:srgbClr val="FFFFFF"/>
                </a:solidFill>
              </a:rPr>
              <a:t>General photographic improvement</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Problem Statement and Motivation</a:t>
            </a:r>
            <a:endParaRPr lang="en-US" sz="3000" dirty="0"/>
          </a:p>
        </p:txBody>
      </p:sp>
      <p:sp>
        <p:nvSpPr>
          <p:cNvPr id="3" name="card"/>
          <p:cNvSpPr/>
          <p:nvPr/>
        </p:nvSpPr>
        <p:spPr>
          <a:xfrm>
            <a:off x="548640" y="1280160"/>
            <a:ext cx="5394960" cy="1965960"/>
          </a:xfrm>
          <a:prstGeom prst="rect">
            <a:avLst/>
          </a:prstGeom>
          <a:solidFill>
            <a:srgbClr val="F1F5F9"/>
          </a:solidFill>
          <a:ln/>
        </p:spPr>
      </p:sp>
      <p:sp>
        <p:nvSpPr>
          <p:cNvPr id="4" name="Text 2"/>
          <p:cNvSpPr txBox="1"/>
          <p:nvPr/>
        </p:nvSpPr>
        <p:spPr>
          <a:xfrm>
            <a:off x="777240" y="1389888"/>
            <a:ext cx="4937760" cy="274320"/>
          </a:xfrm>
          <a:prstGeom prst="rect">
            <a:avLst/>
          </a:prstGeom>
          <a:noFill/>
          <a:ln/>
        </p:spPr>
        <p:txBody>
          <a:bodyPr wrap="square" lIns="0" tIns="0" rIns="0" bIns="0" rtlCol="0" anchor="t"/>
          <a:lstStyle/>
          <a:p>
            <a:pPr marL="0" indent="0">
              <a:buNone/>
            </a:pPr>
            <a:r>
              <a:rPr lang="en-US" sz="1200" b="1" dirty="0">
                <a:solidFill>
                  <a:srgbClr val="0E8C8C"/>
                </a:solidFill>
              </a:rPr>
              <a:t>PROBLEM STATEMENT</a:t>
            </a:r>
            <a:endParaRPr lang="en-US" sz="1200" dirty="0"/>
          </a:p>
        </p:txBody>
      </p:sp>
      <p:sp>
        <p:nvSpPr>
          <p:cNvPr id="5" name="Text 3"/>
          <p:cNvSpPr txBox="1"/>
          <p:nvPr/>
        </p:nvSpPr>
        <p:spPr>
          <a:xfrm>
            <a:off x="777240" y="1691640"/>
            <a:ext cx="4937760" cy="1508760"/>
          </a:xfrm>
          <a:prstGeom prst="rect">
            <a:avLst/>
          </a:prstGeom>
          <a:noFill/>
          <a:ln/>
        </p:spPr>
        <p:txBody>
          <a:bodyPr wrap="square" lIns="0" tIns="0" rIns="0" bIns="0" rtlCol="0" anchor="t"/>
          <a:lstStyle/>
          <a:p>
            <a:pPr marL="0" indent="0">
              <a:buNone/>
            </a:pPr>
            <a:r>
              <a:rPr lang="en-US" sz="1400" i="1" dirty="0">
                <a:solidFill>
                  <a:srgbClr val="1F2937"/>
                </a:solidFill>
              </a:rPr>
              <a:t>“Conventional low-light enhancement methods often use fixed parameters that may not perform consistently across images with different brightness and contrast characteristics. Excessive enhancement may introduce artifacts, amplify noise, or distort image appearance.”</a:t>
            </a:r>
            <a:endParaRPr lang="en-US" sz="1400" dirty="0"/>
          </a:p>
        </p:txBody>
      </p:sp>
      <p:sp>
        <p:nvSpPr>
          <p:cNvPr id="6" name="Text 4"/>
          <p:cNvSpPr txBox="1"/>
          <p:nvPr/>
        </p:nvSpPr>
        <p:spPr>
          <a:xfrm>
            <a:off x="548640" y="3429000"/>
            <a:ext cx="5394960" cy="320040"/>
          </a:xfrm>
          <a:prstGeom prst="rect">
            <a:avLst/>
          </a:prstGeom>
          <a:noFill/>
          <a:ln/>
        </p:spPr>
        <p:txBody>
          <a:bodyPr wrap="square" lIns="0" tIns="0" rIns="0" bIns="0" rtlCol="0" anchor="t"/>
          <a:lstStyle/>
          <a:p>
            <a:pPr marL="0" indent="0">
              <a:buNone/>
            </a:pPr>
            <a:r>
              <a:rPr lang="en-US" sz="1600" b="1" dirty="0">
                <a:solidFill>
                  <a:srgbClr val="0B2545"/>
                </a:solidFill>
              </a:rPr>
              <a:t>Limitations of fixed-parameter approaches</a:t>
            </a:r>
            <a:endParaRPr lang="en-US" sz="1600" dirty="0"/>
          </a:p>
        </p:txBody>
      </p:sp>
      <p:sp>
        <p:nvSpPr>
          <p:cNvPr id="7" name="Text 5"/>
          <p:cNvSpPr txBox="1"/>
          <p:nvPr/>
        </p:nvSpPr>
        <p:spPr>
          <a:xfrm>
            <a:off x="548640" y="3794760"/>
            <a:ext cx="53949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rPr>
              <a:t>Global histogram equalization can over-enhance some regions</a:t>
            </a:r>
            <a:endParaRPr lang="en-US" sz="1400" dirty="0"/>
          </a:p>
          <a:p>
            <a:pPr marL="342900" indent="-342900">
              <a:spcAft>
                <a:spcPts val="600"/>
              </a:spcAft>
              <a:buSzPct val="100000"/>
              <a:buChar char="•"/>
            </a:pPr>
            <a:r>
              <a:rPr lang="en-US" sz="1400" dirty="0">
                <a:solidFill>
                  <a:srgbClr val="1F2937"/>
                </a:solidFill>
              </a:rPr>
              <a:t>Fixed gamma correction does not adapt to each image</a:t>
            </a:r>
            <a:endParaRPr lang="en-US" sz="1400" dirty="0"/>
          </a:p>
          <a:p>
            <a:pPr marL="342900" indent="-342900">
              <a:spcAft>
                <a:spcPts val="600"/>
              </a:spcAft>
              <a:buSzPct val="100000"/>
              <a:buChar char="•"/>
            </a:pPr>
            <a:r>
              <a:rPr lang="en-US" sz="1400" dirty="0">
                <a:solidFill>
                  <a:srgbClr val="1F2937"/>
                </a:solidFill>
              </a:rPr>
              <a:t>CLAHE results depend on clip limit and tile configuration</a:t>
            </a:r>
            <a:endParaRPr lang="en-US" sz="1400" dirty="0"/>
          </a:p>
          <a:p>
            <a:pPr marL="342900" indent="-342900">
              <a:spcAft>
                <a:spcPts val="600"/>
              </a:spcAft>
              <a:buSzPct val="100000"/>
              <a:buChar char="•"/>
            </a:pPr>
            <a:r>
              <a:rPr lang="en-US" sz="1400" dirty="0">
                <a:solidFill>
                  <a:srgbClr val="1F2937"/>
                </a:solidFill>
              </a:rPr>
              <a:t>A fixed gamma + CLAHE combination may not suit all illumination conditions</a:t>
            </a:r>
            <a:endParaRPr lang="en-US" sz="1400" dirty="0"/>
          </a:p>
        </p:txBody>
      </p:sp>
      <p:sp>
        <p:nvSpPr>
          <p:cNvPr id="8" name="card"/>
          <p:cNvSpPr/>
          <p:nvPr/>
        </p:nvSpPr>
        <p:spPr>
          <a:xfrm>
            <a:off x="6309360" y="1280160"/>
            <a:ext cx="5330952" cy="1691640"/>
          </a:xfrm>
          <a:prstGeom prst="rect">
            <a:avLst/>
          </a:prstGeom>
          <a:solidFill>
            <a:srgbClr val="FDF0E3"/>
          </a:solidFill>
          <a:ln/>
        </p:spPr>
      </p:sp>
      <p:sp>
        <p:nvSpPr>
          <p:cNvPr id="9" name="Text 7"/>
          <p:cNvSpPr txBox="1"/>
          <p:nvPr/>
        </p:nvSpPr>
        <p:spPr>
          <a:xfrm>
            <a:off x="6492240" y="1371600"/>
            <a:ext cx="4937760" cy="274320"/>
          </a:xfrm>
          <a:prstGeom prst="rect">
            <a:avLst/>
          </a:prstGeom>
          <a:noFill/>
          <a:ln/>
        </p:spPr>
        <p:txBody>
          <a:bodyPr wrap="square" lIns="0" tIns="0" rIns="0" bIns="0" rtlCol="0" anchor="t"/>
          <a:lstStyle/>
          <a:p>
            <a:pPr marL="0" indent="0">
              <a:buNone/>
            </a:pPr>
            <a:r>
              <a:rPr lang="en-US" sz="1200" b="1" dirty="0">
                <a:solidFill>
                  <a:srgbClr val="C8691A"/>
                </a:solidFill>
              </a:rPr>
              <a:t>EXISTING: FIXED PARAMETERS</a:t>
            </a:r>
            <a:endParaRPr lang="en-US" sz="1200" dirty="0"/>
          </a:p>
        </p:txBody>
      </p:sp>
      <p:sp>
        <p:nvSpPr>
          <p:cNvPr id="10" name="node"/>
          <p:cNvSpPr/>
          <p:nvPr/>
        </p:nvSpPr>
        <p:spPr>
          <a:xfrm>
            <a:off x="6492240" y="1737360"/>
            <a:ext cx="1463040" cy="1005840"/>
          </a:xfrm>
          <a:prstGeom prst="roundRect">
            <a:avLst>
              <a:gd name="adj" fmla="val 727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Same gamma + CLAHE settings</a:t>
            </a:r>
            <a:endParaRPr lang="en-US" sz="1300" dirty="0"/>
          </a:p>
        </p:txBody>
      </p:sp>
      <p:sp>
        <p:nvSpPr>
          <p:cNvPr id="11" name="arrow"/>
          <p:cNvSpPr/>
          <p:nvPr/>
        </p:nvSpPr>
        <p:spPr>
          <a:xfrm>
            <a:off x="7955280" y="2240280"/>
            <a:ext cx="320040" cy="0"/>
          </a:xfrm>
          <a:prstGeom prst="line">
            <a:avLst/>
          </a:prstGeom>
          <a:noFill/>
          <a:ln w="22225">
            <a:solidFill>
              <a:srgbClr val="C8691A"/>
            </a:solidFill>
            <a:prstDash val="solid"/>
            <a:tailEnd type="triangle"/>
          </a:ln>
        </p:spPr>
      </p:sp>
      <p:sp>
        <p:nvSpPr>
          <p:cNvPr id="12" name="node"/>
          <p:cNvSpPr/>
          <p:nvPr/>
        </p:nvSpPr>
        <p:spPr>
          <a:xfrm>
            <a:off x="8275320" y="1737360"/>
            <a:ext cx="1463040" cy="1005840"/>
          </a:xfrm>
          <a:prstGeom prst="roundRect">
            <a:avLst>
              <a:gd name="adj" fmla="val 727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Dark, moderate, bright images</a:t>
            </a:r>
            <a:endParaRPr lang="en-US" sz="1300" dirty="0"/>
          </a:p>
        </p:txBody>
      </p:sp>
      <p:sp>
        <p:nvSpPr>
          <p:cNvPr id="13" name="arrow"/>
          <p:cNvSpPr/>
          <p:nvPr/>
        </p:nvSpPr>
        <p:spPr>
          <a:xfrm>
            <a:off x="9738360" y="2240280"/>
            <a:ext cx="320040" cy="0"/>
          </a:xfrm>
          <a:prstGeom prst="line">
            <a:avLst/>
          </a:prstGeom>
          <a:noFill/>
          <a:ln w="22225">
            <a:solidFill>
              <a:srgbClr val="C8691A"/>
            </a:solidFill>
            <a:prstDash val="solid"/>
            <a:tailEnd type="triangle"/>
          </a:ln>
        </p:spPr>
      </p:sp>
      <p:sp>
        <p:nvSpPr>
          <p:cNvPr id="14" name="node"/>
          <p:cNvSpPr/>
          <p:nvPr/>
        </p:nvSpPr>
        <p:spPr>
          <a:xfrm>
            <a:off x="10058400" y="1737360"/>
            <a:ext cx="1463040" cy="1005840"/>
          </a:xfrm>
          <a:prstGeom prst="roundRect">
            <a:avLst>
              <a:gd name="adj" fmla="val 7273"/>
            </a:avLst>
          </a:prstGeom>
          <a:solidFill>
            <a:srgbClr val="C8691A"/>
          </a:solidFill>
          <a:ln w="15875">
            <a:solidFill>
              <a:srgbClr val="C8691A"/>
            </a:solidFill>
          </a:ln>
        </p:spPr>
        <p:txBody>
          <a:bodyPr wrap="square" lIns="50800" tIns="50800" rIns="50800" bIns="50800" rtlCol="0" anchor="ctr"/>
          <a:lstStyle/>
          <a:p>
            <a:pPr marL="0" indent="0" algn="ctr">
              <a:buNone/>
            </a:pPr>
            <a:r>
              <a:rPr lang="en-US" sz="1300" b="1" dirty="0">
                <a:solidFill>
                  <a:srgbClr val="FFFFFF"/>
                </a:solidFill>
              </a:rPr>
              <a:t>Possibly inconsistent enhancement</a:t>
            </a:r>
            <a:endParaRPr lang="en-US" sz="1300" dirty="0"/>
          </a:p>
        </p:txBody>
      </p:sp>
      <p:sp>
        <p:nvSpPr>
          <p:cNvPr id="15" name="card"/>
          <p:cNvSpPr/>
          <p:nvPr/>
        </p:nvSpPr>
        <p:spPr>
          <a:xfrm>
            <a:off x="6309360" y="3154680"/>
            <a:ext cx="5330952" cy="1691640"/>
          </a:xfrm>
          <a:prstGeom prst="rect">
            <a:avLst/>
          </a:prstGeom>
          <a:solidFill>
            <a:srgbClr val="E0F4F3"/>
          </a:solidFill>
          <a:ln/>
        </p:spPr>
      </p:sp>
      <p:sp>
        <p:nvSpPr>
          <p:cNvPr id="16" name="Text 14"/>
          <p:cNvSpPr txBox="1"/>
          <p:nvPr/>
        </p:nvSpPr>
        <p:spPr>
          <a:xfrm>
            <a:off x="6492240" y="3246120"/>
            <a:ext cx="4937760" cy="274320"/>
          </a:xfrm>
          <a:prstGeom prst="rect">
            <a:avLst/>
          </a:prstGeom>
          <a:noFill/>
          <a:ln/>
        </p:spPr>
        <p:txBody>
          <a:bodyPr wrap="square" lIns="0" tIns="0" rIns="0" bIns="0" rtlCol="0" anchor="t"/>
          <a:lstStyle/>
          <a:p>
            <a:pPr marL="0" indent="0">
              <a:buNone/>
            </a:pPr>
            <a:r>
              <a:rPr lang="en-US" sz="1200" b="1" dirty="0">
                <a:solidFill>
                  <a:srgbClr val="0E8C8C"/>
                </a:solidFill>
              </a:rPr>
              <a:t>PROPOSED: BCGAE</a:t>
            </a:r>
            <a:endParaRPr lang="en-US" sz="1200" dirty="0"/>
          </a:p>
        </p:txBody>
      </p:sp>
      <p:sp>
        <p:nvSpPr>
          <p:cNvPr id="17" name="node"/>
          <p:cNvSpPr/>
          <p:nvPr/>
        </p:nvSpPr>
        <p:spPr>
          <a:xfrm>
            <a:off x="6492240" y="3611880"/>
            <a:ext cx="1463040" cy="1005840"/>
          </a:xfrm>
          <a:prstGeom prst="roundRect">
            <a:avLst>
              <a:gd name="adj" fmla="val 727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Measure brightness B and contrast C</a:t>
            </a:r>
            <a:endParaRPr lang="en-US" sz="1300" dirty="0"/>
          </a:p>
        </p:txBody>
      </p:sp>
      <p:sp>
        <p:nvSpPr>
          <p:cNvPr id="18" name="arrow"/>
          <p:cNvSpPr/>
          <p:nvPr/>
        </p:nvSpPr>
        <p:spPr>
          <a:xfrm>
            <a:off x="7955280" y="4114800"/>
            <a:ext cx="320040" cy="0"/>
          </a:xfrm>
          <a:prstGeom prst="line">
            <a:avLst/>
          </a:prstGeom>
          <a:noFill/>
          <a:ln w="22225">
            <a:solidFill>
              <a:srgbClr val="0E8C8C"/>
            </a:solidFill>
            <a:prstDash val="solid"/>
            <a:tailEnd type="triangle"/>
          </a:ln>
        </p:spPr>
      </p:sp>
      <p:sp>
        <p:nvSpPr>
          <p:cNvPr id="19" name="node"/>
          <p:cNvSpPr/>
          <p:nvPr/>
        </p:nvSpPr>
        <p:spPr>
          <a:xfrm>
            <a:off x="8275320" y="3611880"/>
            <a:ext cx="1463040" cy="1005840"/>
          </a:xfrm>
          <a:prstGeom prst="roundRect">
            <a:avLst>
              <a:gd name="adj" fmla="val 727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Select parameters per image</a:t>
            </a:r>
            <a:endParaRPr lang="en-US" sz="1300" dirty="0"/>
          </a:p>
        </p:txBody>
      </p:sp>
      <p:sp>
        <p:nvSpPr>
          <p:cNvPr id="20" name="arrow"/>
          <p:cNvSpPr/>
          <p:nvPr/>
        </p:nvSpPr>
        <p:spPr>
          <a:xfrm>
            <a:off x="9738360" y="4114800"/>
            <a:ext cx="320040" cy="0"/>
          </a:xfrm>
          <a:prstGeom prst="line">
            <a:avLst/>
          </a:prstGeom>
          <a:noFill/>
          <a:ln w="22225">
            <a:solidFill>
              <a:srgbClr val="0E8C8C"/>
            </a:solidFill>
            <a:prstDash val="solid"/>
            <a:tailEnd type="triangle"/>
          </a:ln>
        </p:spPr>
      </p:sp>
      <p:sp>
        <p:nvSpPr>
          <p:cNvPr id="21" name="node"/>
          <p:cNvSpPr/>
          <p:nvPr/>
        </p:nvSpPr>
        <p:spPr>
          <a:xfrm>
            <a:off x="10058400" y="3611880"/>
            <a:ext cx="1463040" cy="1005840"/>
          </a:xfrm>
          <a:prstGeom prst="roundRect">
            <a:avLst>
              <a:gd name="adj" fmla="val 7273"/>
            </a:avLst>
          </a:prstGeom>
          <a:solidFill>
            <a:srgbClr val="0E8C8C"/>
          </a:solidFill>
          <a:ln w="15875">
            <a:solidFill>
              <a:srgbClr val="0E8C8C"/>
            </a:solidFill>
          </a:ln>
        </p:spPr>
        <p:txBody>
          <a:bodyPr wrap="square" lIns="50800" tIns="50800" rIns="50800" bIns="50800" rtlCol="0" anchor="ctr"/>
          <a:lstStyle/>
          <a:p>
            <a:pPr marL="0" indent="0" algn="ctr">
              <a:buNone/>
            </a:pPr>
            <a:r>
              <a:rPr lang="en-US" sz="1300" b="1" dirty="0">
                <a:solidFill>
                  <a:srgbClr val="FFFFFF"/>
                </a:solidFill>
              </a:rPr>
              <a:t>Per-image adaptive enhancement</a:t>
            </a:r>
            <a:endParaRPr lang="en-US" sz="1300" dirty="0"/>
          </a:p>
        </p:txBody>
      </p:sp>
      <p:sp>
        <p:nvSpPr>
          <p:cNvPr id="22" name="Text 20"/>
          <p:cNvSpPr txBox="1"/>
          <p:nvPr/>
        </p:nvSpPr>
        <p:spPr>
          <a:xfrm>
            <a:off x="6309360" y="4937760"/>
            <a:ext cx="5303520" cy="274320"/>
          </a:xfrm>
          <a:prstGeom prst="rect">
            <a:avLst/>
          </a:prstGeom>
          <a:noFill/>
          <a:ln/>
        </p:spPr>
        <p:txBody>
          <a:bodyPr wrap="square" lIns="0" tIns="0" rIns="0" bIns="0" rtlCol="0" anchor="t"/>
          <a:lstStyle/>
          <a:p>
            <a:pPr marL="0" indent="0">
              <a:buNone/>
            </a:pPr>
            <a:r>
              <a:rPr lang="en-US" sz="1100" dirty="0">
                <a:solidFill>
                  <a:srgbClr val="5B6573"/>
                </a:solidFill>
              </a:rPr>
              <a:t>Concept diagram. Existing methods do not fail in every case.</a:t>
            </a:r>
            <a:endParaRPr lang="en-US" sz="1100" dirty="0"/>
          </a:p>
        </p:txBody>
      </p:sp>
      <p:sp>
        <p:nvSpPr>
          <p:cNvPr id="23" name="card"/>
          <p:cNvSpPr/>
          <p:nvPr/>
        </p:nvSpPr>
        <p:spPr>
          <a:xfrm>
            <a:off x="548640" y="5577840"/>
            <a:ext cx="11091672" cy="731520"/>
          </a:xfrm>
          <a:prstGeom prst="rect">
            <a:avLst/>
          </a:prstGeom>
          <a:solidFill>
            <a:srgbClr val="0B2545"/>
          </a:solidFill>
          <a:ln/>
        </p:spPr>
      </p:sp>
      <p:sp>
        <p:nvSpPr>
          <p:cNvPr id="24" name="Text 22"/>
          <p:cNvSpPr txBox="1"/>
          <p:nvPr/>
        </p:nvSpPr>
        <p:spPr>
          <a:xfrm>
            <a:off x="777240" y="5650992"/>
            <a:ext cx="10607040" cy="594360"/>
          </a:xfrm>
          <a:prstGeom prst="rect">
            <a:avLst/>
          </a:prstGeom>
          <a:noFill/>
          <a:ln/>
        </p:spPr>
        <p:txBody>
          <a:bodyPr wrap="square" lIns="0" tIns="0" rIns="0" bIns="0" rtlCol="0" anchor="ctr"/>
          <a:lstStyle/>
          <a:p>
            <a:pPr marL="0" indent="0">
              <a:buNone/>
            </a:pPr>
            <a:r>
              <a:rPr lang="en-US" sz="1400" b="1" dirty="0">
                <a:solidFill>
                  <a:srgbClr val="7FD6D3"/>
                </a:solidFill>
              </a:rPr>
              <a:t>Research question: </a:t>
            </a:r>
            <a:r>
              <a:rPr lang="en-US" sz="1400" dirty="0">
                <a:solidFill>
                  <a:srgbClr val="FFFFFF"/>
                </a:solidFill>
              </a:rPr>
              <a:t>Can brightness- and contrast-guided parameter selection improve the consistency of classical low-light enhancement compared with fixed-parameter methods?</a:t>
            </a:r>
            <a:endParaRPr lang="en-US" sz="1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Objectives, Scope and Evaluation Setup</a:t>
            </a:r>
            <a:endParaRPr lang="en-US" sz="30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marL="0" indent="0">
              <a:buNone/>
            </a:pPr>
            <a:r>
              <a:rPr lang="en-US" sz="2000" b="1" dirty="0">
                <a:solidFill>
                  <a:srgbClr val="0B2545"/>
                </a:solidFill>
                <a:latin typeface="Cambria" pitchFamily="34" charset="0"/>
                <a:ea typeface="Cambria" pitchFamily="34" charset="-122"/>
                <a:cs typeface="Cambria" pitchFamily="34" charset="-120"/>
              </a:rPr>
              <a:t>Objectives</a:t>
            </a:r>
            <a:endParaRPr lang="en-US" sz="2000" dirty="0"/>
          </a:p>
        </p:txBody>
      </p:sp>
      <p:sp>
        <p:nvSpPr>
          <p:cNvPr id="4" name="num1"/>
          <p:cNvSpPr/>
          <p:nvPr/>
        </p:nvSpPr>
        <p:spPr>
          <a:xfrm>
            <a:off x="548640" y="1856232"/>
            <a:ext cx="548640" cy="548640"/>
          </a:xfrm>
          <a:prstGeom prst="ellipse">
            <a:avLst/>
          </a:prstGeom>
          <a:solidFill>
            <a:srgbClr val="0E8C8C"/>
          </a:solidFill>
          <a:ln/>
        </p:spPr>
      </p:sp>
      <p:sp>
        <p:nvSpPr>
          <p:cNvPr id="5" name="Text 3"/>
          <p:cNvSpPr txBox="1"/>
          <p:nvPr/>
        </p:nvSpPr>
        <p:spPr>
          <a:xfrm>
            <a:off x="548640" y="185623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4"/>
          <p:cNvSpPr txBox="1"/>
          <p:nvPr/>
        </p:nvSpPr>
        <p:spPr>
          <a:xfrm>
            <a:off x="1325880" y="1783080"/>
            <a:ext cx="4572000" cy="694944"/>
          </a:xfrm>
          <a:prstGeom prst="rect">
            <a:avLst/>
          </a:prstGeom>
          <a:noFill/>
          <a:ln/>
        </p:spPr>
        <p:txBody>
          <a:bodyPr wrap="square" lIns="0" tIns="0" rIns="0" bIns="0" rtlCol="0" anchor="ctr"/>
          <a:lstStyle/>
          <a:p>
            <a:pPr marL="0" indent="0">
              <a:buNone/>
            </a:pPr>
            <a:r>
              <a:rPr lang="en-US" sz="1600" dirty="0">
                <a:solidFill>
                  <a:srgbClr val="1F2937"/>
                </a:solidFill>
              </a:rPr>
              <a:t>Study existing classical image enhancement techniques</a:t>
            </a:r>
            <a:endParaRPr lang="en-US" sz="1600" dirty="0"/>
          </a:p>
        </p:txBody>
      </p:sp>
      <p:sp>
        <p:nvSpPr>
          <p:cNvPr id="7" name="num2"/>
          <p:cNvSpPr/>
          <p:nvPr/>
        </p:nvSpPr>
        <p:spPr>
          <a:xfrm>
            <a:off x="548640" y="2752344"/>
            <a:ext cx="548640" cy="548640"/>
          </a:xfrm>
          <a:prstGeom prst="ellipse">
            <a:avLst/>
          </a:prstGeom>
          <a:solidFill>
            <a:srgbClr val="0E8C8C"/>
          </a:solidFill>
          <a:ln/>
        </p:spPr>
      </p:sp>
      <p:sp>
        <p:nvSpPr>
          <p:cNvPr id="8" name="Text 6"/>
          <p:cNvSpPr txBox="1"/>
          <p:nvPr/>
        </p:nvSpPr>
        <p:spPr>
          <a:xfrm>
            <a:off x="548640" y="275234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9" name="Text 7"/>
          <p:cNvSpPr txBox="1"/>
          <p:nvPr/>
        </p:nvSpPr>
        <p:spPr>
          <a:xfrm>
            <a:off x="1325880" y="2679192"/>
            <a:ext cx="4572000" cy="694944"/>
          </a:xfrm>
          <a:prstGeom prst="rect">
            <a:avLst/>
          </a:prstGeom>
          <a:noFill/>
          <a:ln/>
        </p:spPr>
        <p:txBody>
          <a:bodyPr wrap="square" lIns="0" tIns="0" rIns="0" bIns="0" rtlCol="0" anchor="ctr"/>
          <a:lstStyle/>
          <a:p>
            <a:pPr marL="0" indent="0">
              <a:buNone/>
            </a:pPr>
            <a:r>
              <a:rPr lang="en-US" sz="1600" dirty="0">
                <a:solidFill>
                  <a:srgbClr val="1F2937"/>
                </a:solidFill>
              </a:rPr>
              <a:t>Develop a brightness- and contrast-guided adaptive framework</a:t>
            </a:r>
            <a:endParaRPr lang="en-US" sz="1600" dirty="0"/>
          </a:p>
        </p:txBody>
      </p:sp>
      <p:sp>
        <p:nvSpPr>
          <p:cNvPr id="10" name="num3"/>
          <p:cNvSpPr/>
          <p:nvPr/>
        </p:nvSpPr>
        <p:spPr>
          <a:xfrm>
            <a:off x="548640" y="3648456"/>
            <a:ext cx="548640" cy="548640"/>
          </a:xfrm>
          <a:prstGeom prst="ellipse">
            <a:avLst/>
          </a:prstGeom>
          <a:solidFill>
            <a:srgbClr val="0E8C8C"/>
          </a:solidFill>
          <a:ln/>
        </p:spPr>
      </p:sp>
      <p:sp>
        <p:nvSpPr>
          <p:cNvPr id="11" name="Text 9"/>
          <p:cNvSpPr txBox="1"/>
          <p:nvPr/>
        </p:nvSpPr>
        <p:spPr>
          <a:xfrm>
            <a:off x="548640" y="364845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2" name="Text 10"/>
          <p:cNvSpPr txBox="1"/>
          <p:nvPr/>
        </p:nvSpPr>
        <p:spPr>
          <a:xfrm>
            <a:off x="1325880" y="3575304"/>
            <a:ext cx="4572000" cy="694944"/>
          </a:xfrm>
          <a:prstGeom prst="rect">
            <a:avLst/>
          </a:prstGeom>
          <a:noFill/>
          <a:ln/>
        </p:spPr>
        <p:txBody>
          <a:bodyPr wrap="square" lIns="0" tIns="0" rIns="0" bIns="0" rtlCol="0" anchor="ctr"/>
          <a:lstStyle/>
          <a:p>
            <a:pPr marL="0" indent="0">
              <a:buNone/>
            </a:pPr>
            <a:r>
              <a:rPr lang="en-US" sz="1600" dirty="0">
                <a:solidFill>
                  <a:srgbClr val="1F2937"/>
                </a:solidFill>
              </a:rPr>
              <a:t>Evaluate performance at multiple low-light degradation levels</a:t>
            </a:r>
            <a:endParaRPr lang="en-US" sz="1600" dirty="0"/>
          </a:p>
        </p:txBody>
      </p:sp>
      <p:sp>
        <p:nvSpPr>
          <p:cNvPr id="13" name="num4"/>
          <p:cNvSpPr/>
          <p:nvPr/>
        </p:nvSpPr>
        <p:spPr>
          <a:xfrm>
            <a:off x="548640" y="4544568"/>
            <a:ext cx="548640" cy="548640"/>
          </a:xfrm>
          <a:prstGeom prst="ellipse">
            <a:avLst/>
          </a:prstGeom>
          <a:solidFill>
            <a:srgbClr val="0E8C8C"/>
          </a:solidFill>
          <a:ln/>
        </p:spPr>
      </p:sp>
      <p:sp>
        <p:nvSpPr>
          <p:cNvPr id="14" name="Text 12"/>
          <p:cNvSpPr txBox="1"/>
          <p:nvPr/>
        </p:nvSpPr>
        <p:spPr>
          <a:xfrm>
            <a:off x="548640" y="45445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5" name="Text 13"/>
          <p:cNvSpPr txBox="1"/>
          <p:nvPr/>
        </p:nvSpPr>
        <p:spPr>
          <a:xfrm>
            <a:off x="1325880" y="4471416"/>
            <a:ext cx="4572000" cy="694944"/>
          </a:xfrm>
          <a:prstGeom prst="rect">
            <a:avLst/>
          </a:prstGeom>
          <a:noFill/>
          <a:ln/>
        </p:spPr>
        <p:txBody>
          <a:bodyPr wrap="square" lIns="0" tIns="0" rIns="0" bIns="0" rtlCol="0" anchor="ctr"/>
          <a:lstStyle/>
          <a:p>
            <a:pPr marL="0" indent="0">
              <a:buNone/>
            </a:pPr>
            <a:r>
              <a:rPr lang="en-US" sz="1600" dirty="0">
                <a:solidFill>
                  <a:srgbClr val="1F2937"/>
                </a:solidFill>
              </a:rPr>
              <a:t>Compare visual quality and quantitative measurements</a:t>
            </a:r>
            <a:endParaRPr lang="en-US" sz="1600" dirty="0"/>
          </a:p>
        </p:txBody>
      </p:sp>
      <p:sp>
        <p:nvSpPr>
          <p:cNvPr id="16" name="num5"/>
          <p:cNvSpPr/>
          <p:nvPr/>
        </p:nvSpPr>
        <p:spPr>
          <a:xfrm>
            <a:off x="548640" y="5440680"/>
            <a:ext cx="548640" cy="548640"/>
          </a:xfrm>
          <a:prstGeom prst="ellipse">
            <a:avLst/>
          </a:prstGeom>
          <a:solidFill>
            <a:srgbClr val="0E8C8C"/>
          </a:solidFill>
          <a:ln/>
        </p:spPr>
      </p:sp>
      <p:sp>
        <p:nvSpPr>
          <p:cNvPr id="17" name="Text 15"/>
          <p:cNvSpPr txBox="1"/>
          <p:nvPr/>
        </p:nvSpPr>
        <p:spPr>
          <a:xfrm>
            <a:off x="548640" y="54406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18" name="Text 16"/>
          <p:cNvSpPr txBox="1"/>
          <p:nvPr/>
        </p:nvSpPr>
        <p:spPr>
          <a:xfrm>
            <a:off x="1325880" y="5367528"/>
            <a:ext cx="4572000" cy="694944"/>
          </a:xfrm>
          <a:prstGeom prst="rect">
            <a:avLst/>
          </a:prstGeom>
          <a:noFill/>
          <a:ln/>
        </p:spPr>
        <p:txBody>
          <a:bodyPr wrap="square" lIns="0" tIns="0" rIns="0" bIns="0" rtlCol="0" anchor="ctr"/>
          <a:lstStyle/>
          <a:p>
            <a:pPr marL="0" indent="0">
              <a:buNone/>
            </a:pPr>
            <a:r>
              <a:rPr lang="en-US" sz="1600" dirty="0">
                <a:solidFill>
                  <a:srgbClr val="1F2937"/>
                </a:solidFill>
              </a:rPr>
              <a:t>Analyze limitations and trade-offs of the proposed method</a:t>
            </a:r>
            <a:endParaRPr lang="en-US" sz="1600" dirty="0"/>
          </a:p>
        </p:txBody>
      </p:sp>
      <p:sp>
        <p:nvSpPr>
          <p:cNvPr id="19" name="card"/>
          <p:cNvSpPr/>
          <p:nvPr/>
        </p:nvSpPr>
        <p:spPr>
          <a:xfrm>
            <a:off x="6400800" y="1280160"/>
            <a:ext cx="1225296" cy="1234440"/>
          </a:xfrm>
          <a:prstGeom prst="rect">
            <a:avLst/>
          </a:prstGeom>
          <a:solidFill>
            <a:srgbClr val="0B2545"/>
          </a:solidFill>
          <a:ln/>
        </p:spPr>
      </p:sp>
      <p:sp>
        <p:nvSpPr>
          <p:cNvPr id="20" name="Text 18"/>
          <p:cNvSpPr txBox="1"/>
          <p:nvPr/>
        </p:nvSpPr>
        <p:spPr>
          <a:xfrm>
            <a:off x="6400800" y="1325880"/>
            <a:ext cx="1225296"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10</a:t>
            </a:r>
            <a:endParaRPr lang="en-US" sz="3200" dirty="0"/>
          </a:p>
        </p:txBody>
      </p:sp>
      <p:sp>
        <p:nvSpPr>
          <p:cNvPr id="21" name="Text 19"/>
          <p:cNvSpPr txBox="1"/>
          <p:nvPr/>
        </p:nvSpPr>
        <p:spPr>
          <a:xfrm>
            <a:off x="6446520" y="1965960"/>
            <a:ext cx="1133856" cy="502920"/>
          </a:xfrm>
          <a:prstGeom prst="rect">
            <a:avLst/>
          </a:prstGeom>
          <a:noFill/>
          <a:ln/>
        </p:spPr>
        <p:txBody>
          <a:bodyPr wrap="square" lIns="0" tIns="0" rIns="0" bIns="0" rtlCol="0" anchor="t"/>
          <a:lstStyle/>
          <a:p>
            <a:pPr marL="0" indent="0" algn="ctr">
              <a:buNone/>
            </a:pPr>
            <a:r>
              <a:rPr lang="en-US" sz="1200" dirty="0">
                <a:solidFill>
                  <a:srgbClr val="FFFFFF"/>
                </a:solidFill>
              </a:rPr>
              <a:t>images</a:t>
            </a:r>
            <a:endParaRPr lang="en-US" sz="1200" dirty="0"/>
          </a:p>
        </p:txBody>
      </p:sp>
      <p:sp>
        <p:nvSpPr>
          <p:cNvPr id="22" name="card"/>
          <p:cNvSpPr/>
          <p:nvPr/>
        </p:nvSpPr>
        <p:spPr>
          <a:xfrm>
            <a:off x="7735824" y="1280160"/>
            <a:ext cx="1225296" cy="1234440"/>
          </a:xfrm>
          <a:prstGeom prst="rect">
            <a:avLst/>
          </a:prstGeom>
          <a:solidFill>
            <a:srgbClr val="0B2545"/>
          </a:solidFill>
          <a:ln/>
        </p:spPr>
      </p:sp>
      <p:sp>
        <p:nvSpPr>
          <p:cNvPr id="23" name="Text 21"/>
          <p:cNvSpPr txBox="1"/>
          <p:nvPr/>
        </p:nvSpPr>
        <p:spPr>
          <a:xfrm>
            <a:off x="7735824" y="1325880"/>
            <a:ext cx="1225296"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24" name="Text 22"/>
          <p:cNvSpPr txBox="1"/>
          <p:nvPr/>
        </p:nvSpPr>
        <p:spPr>
          <a:xfrm>
            <a:off x="7781544" y="1965960"/>
            <a:ext cx="1133856" cy="502920"/>
          </a:xfrm>
          <a:prstGeom prst="rect">
            <a:avLst/>
          </a:prstGeom>
          <a:noFill/>
          <a:ln/>
        </p:spPr>
        <p:txBody>
          <a:bodyPr wrap="square" lIns="0" tIns="0" rIns="0" bIns="0" rtlCol="0" anchor="t"/>
          <a:lstStyle/>
          <a:p>
            <a:pPr marL="0" indent="0" algn="ctr">
              <a:buNone/>
            </a:pPr>
            <a:r>
              <a:rPr lang="en-US" sz="1200" dirty="0">
                <a:solidFill>
                  <a:srgbClr val="FFFFFF"/>
                </a:solidFill>
              </a:rPr>
              <a:t>degradation levels</a:t>
            </a:r>
            <a:endParaRPr lang="en-US" sz="1200" dirty="0"/>
          </a:p>
        </p:txBody>
      </p:sp>
      <p:sp>
        <p:nvSpPr>
          <p:cNvPr id="25" name="card"/>
          <p:cNvSpPr/>
          <p:nvPr/>
        </p:nvSpPr>
        <p:spPr>
          <a:xfrm>
            <a:off x="9070848" y="1280160"/>
            <a:ext cx="1225296" cy="1234440"/>
          </a:xfrm>
          <a:prstGeom prst="rect">
            <a:avLst/>
          </a:prstGeom>
          <a:solidFill>
            <a:srgbClr val="0B2545"/>
          </a:solidFill>
          <a:ln/>
        </p:spPr>
      </p:sp>
      <p:sp>
        <p:nvSpPr>
          <p:cNvPr id="26" name="Text 24"/>
          <p:cNvSpPr txBox="1"/>
          <p:nvPr/>
        </p:nvSpPr>
        <p:spPr>
          <a:xfrm>
            <a:off x="9070848" y="1325880"/>
            <a:ext cx="1225296"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5</a:t>
            </a:r>
            <a:endParaRPr lang="en-US" sz="3200" dirty="0"/>
          </a:p>
        </p:txBody>
      </p:sp>
      <p:sp>
        <p:nvSpPr>
          <p:cNvPr id="27" name="Text 25"/>
          <p:cNvSpPr txBox="1"/>
          <p:nvPr/>
        </p:nvSpPr>
        <p:spPr>
          <a:xfrm>
            <a:off x="9116568" y="1965960"/>
            <a:ext cx="1133856" cy="502920"/>
          </a:xfrm>
          <a:prstGeom prst="rect">
            <a:avLst/>
          </a:prstGeom>
          <a:noFill/>
          <a:ln/>
        </p:spPr>
        <p:txBody>
          <a:bodyPr wrap="square" lIns="0" tIns="0" rIns="0" bIns="0" rtlCol="0" anchor="t"/>
          <a:lstStyle/>
          <a:p>
            <a:pPr marL="0" indent="0" algn="ctr">
              <a:buNone/>
            </a:pPr>
            <a:r>
              <a:rPr lang="en-US" sz="1200" dirty="0">
                <a:solidFill>
                  <a:srgbClr val="FFFFFF"/>
                </a:solidFill>
              </a:rPr>
              <a:t>methods</a:t>
            </a:r>
            <a:endParaRPr lang="en-US" sz="1200" dirty="0"/>
          </a:p>
        </p:txBody>
      </p:sp>
      <p:sp>
        <p:nvSpPr>
          <p:cNvPr id="28" name="card"/>
          <p:cNvSpPr/>
          <p:nvPr/>
        </p:nvSpPr>
        <p:spPr>
          <a:xfrm>
            <a:off x="10405872" y="1280160"/>
            <a:ext cx="1225296" cy="1234440"/>
          </a:xfrm>
          <a:prstGeom prst="rect">
            <a:avLst/>
          </a:prstGeom>
          <a:solidFill>
            <a:srgbClr val="0E8C8C"/>
          </a:solidFill>
          <a:ln/>
        </p:spPr>
      </p:sp>
      <p:sp>
        <p:nvSpPr>
          <p:cNvPr id="29" name="Text 27"/>
          <p:cNvSpPr txBox="1"/>
          <p:nvPr/>
        </p:nvSpPr>
        <p:spPr>
          <a:xfrm>
            <a:off x="10405872" y="1325880"/>
            <a:ext cx="1225296"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150</a:t>
            </a:r>
            <a:endParaRPr lang="en-US" sz="3200" dirty="0"/>
          </a:p>
        </p:txBody>
      </p:sp>
      <p:sp>
        <p:nvSpPr>
          <p:cNvPr id="30" name="Text 28"/>
          <p:cNvSpPr txBox="1"/>
          <p:nvPr/>
        </p:nvSpPr>
        <p:spPr>
          <a:xfrm>
            <a:off x="10451592" y="1965960"/>
            <a:ext cx="1133856" cy="502920"/>
          </a:xfrm>
          <a:prstGeom prst="rect">
            <a:avLst/>
          </a:prstGeom>
          <a:noFill/>
          <a:ln/>
        </p:spPr>
        <p:txBody>
          <a:bodyPr wrap="square" lIns="0" tIns="0" rIns="0" bIns="0" rtlCol="0" anchor="t"/>
          <a:lstStyle/>
          <a:p>
            <a:pPr marL="0" indent="0" algn="ctr">
              <a:buNone/>
            </a:pPr>
            <a:r>
              <a:rPr lang="en-US" sz="1200" dirty="0">
                <a:solidFill>
                  <a:srgbClr val="FFFFFF"/>
                </a:solidFill>
              </a:rPr>
              <a:t>cases</a:t>
            </a:r>
            <a:endParaRPr lang="en-US" sz="1200" dirty="0"/>
          </a:p>
        </p:txBody>
      </p:sp>
      <p:sp>
        <p:nvSpPr>
          <p:cNvPr id="31" name="card"/>
          <p:cNvSpPr/>
          <p:nvPr/>
        </p:nvSpPr>
        <p:spPr>
          <a:xfrm>
            <a:off x="6400800" y="2697480"/>
            <a:ext cx="5239512" cy="2377440"/>
          </a:xfrm>
          <a:prstGeom prst="rect">
            <a:avLst/>
          </a:prstGeom>
          <a:solidFill>
            <a:srgbClr val="F1F5F9"/>
          </a:solidFill>
          <a:ln/>
        </p:spPr>
      </p:sp>
      <p:sp>
        <p:nvSpPr>
          <p:cNvPr id="32" name="Text 30"/>
          <p:cNvSpPr txBox="1"/>
          <p:nvPr/>
        </p:nvSpPr>
        <p:spPr>
          <a:xfrm>
            <a:off x="6629400" y="2770632"/>
            <a:ext cx="4572000" cy="365760"/>
          </a:xfrm>
          <a:prstGeom prst="rect">
            <a:avLst/>
          </a:prstGeom>
          <a:noFill/>
          <a:ln/>
        </p:spPr>
        <p:txBody>
          <a:bodyPr wrap="square" lIns="0" tIns="0" rIns="0" bIns="0" rtlCol="0" anchor="t"/>
          <a:lstStyle/>
          <a:p>
            <a:pPr marL="0" indent="0">
              <a:buNone/>
            </a:pPr>
            <a:r>
              <a:rPr lang="en-US" sz="1800" b="1" dirty="0">
                <a:solidFill>
                  <a:srgbClr val="0B2545"/>
                </a:solidFill>
                <a:latin typeface="Cambria" pitchFamily="34" charset="0"/>
                <a:ea typeface="Cambria" pitchFamily="34" charset="-122"/>
                <a:cs typeface="Cambria" pitchFamily="34" charset="-120"/>
              </a:rPr>
              <a:t>Scope</a:t>
            </a:r>
            <a:endParaRPr lang="en-US" sz="1800" dirty="0"/>
          </a:p>
        </p:txBody>
      </p:sp>
      <p:sp>
        <p:nvSpPr>
          <p:cNvPr id="33" name="Text 31"/>
          <p:cNvSpPr txBox="1"/>
          <p:nvPr/>
        </p:nvSpPr>
        <p:spPr>
          <a:xfrm>
            <a:off x="6629400" y="3200400"/>
            <a:ext cx="48463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rPr>
              <a:t>Classical image processing only; no deep learning</a:t>
            </a:r>
            <a:endParaRPr lang="en-US" sz="1400" dirty="0"/>
          </a:p>
          <a:p>
            <a:pPr marL="342900" indent="-342900">
              <a:spcAft>
                <a:spcPts val="600"/>
              </a:spcAft>
              <a:buSzPct val="100000"/>
              <a:buChar char="•"/>
            </a:pPr>
            <a:r>
              <a:rPr lang="en-US" sz="1400" dirty="0">
                <a:solidFill>
                  <a:srgbClr val="1F2937"/>
                </a:solidFill>
              </a:rPr>
              <a:t>Synthetic low-light levels: Mild, Moderate, Severe</a:t>
            </a:r>
            <a:endParaRPr lang="en-US" sz="1400" dirty="0"/>
          </a:p>
          <a:p>
            <a:pPr marL="342900" indent="-342900">
              <a:spcAft>
                <a:spcPts val="600"/>
              </a:spcAft>
              <a:buSzPct val="100000"/>
              <a:buChar char="•"/>
            </a:pPr>
            <a:r>
              <a:rPr lang="en-US" sz="1400" dirty="0">
                <a:solidFill>
                  <a:srgbClr val="1F2937"/>
                </a:solidFill>
              </a:rPr>
              <a:t>Clean originals kept as reference images</a:t>
            </a:r>
            <a:endParaRPr lang="en-US" sz="1400" dirty="0"/>
          </a:p>
          <a:p>
            <a:pPr marL="342900" indent="-342900">
              <a:spcAft>
                <a:spcPts val="600"/>
              </a:spcAft>
              <a:buSzPct val="100000"/>
              <a:buChar char="•"/>
            </a:pPr>
            <a:r>
              <a:rPr lang="en-US" sz="1400" dirty="0">
                <a:solidFill>
                  <a:srgbClr val="1F2937"/>
                </a:solidFill>
              </a:rPr>
              <a:t>Methods: HE, Gamma, CLAHE, fixed Gamma + CLAHE, BCGAE</a:t>
            </a:r>
            <a:endParaRPr lang="en-US" sz="1400" dirty="0"/>
          </a:p>
          <a:p>
            <a:pPr marL="342900" indent="-342900">
              <a:spcAft>
                <a:spcPts val="600"/>
              </a:spcAft>
              <a:buSzPct val="100000"/>
              <a:buChar char="•"/>
            </a:pPr>
            <a:r>
              <a:rPr lang="en-US" sz="1400" dirty="0">
                <a:solidFill>
                  <a:srgbClr val="1F2937"/>
                </a:solidFill>
              </a:rPr>
              <a:t>Python and OpenCV; 10 images × 3 levels × 5 methods</a:t>
            </a:r>
            <a:endParaRPr lang="en-US" sz="1400" dirty="0"/>
          </a:p>
        </p:txBody>
      </p:sp>
      <p:sp>
        <p:nvSpPr>
          <p:cNvPr id="34" name="card"/>
          <p:cNvSpPr/>
          <p:nvPr/>
        </p:nvSpPr>
        <p:spPr>
          <a:xfrm>
            <a:off x="6400800" y="5257800"/>
            <a:ext cx="5239512" cy="1005840"/>
          </a:xfrm>
          <a:prstGeom prst="rect">
            <a:avLst/>
          </a:prstGeom>
          <a:solidFill>
            <a:srgbClr val="FDF0E3"/>
          </a:solidFill>
          <a:ln/>
        </p:spPr>
      </p:sp>
      <p:sp>
        <p:nvSpPr>
          <p:cNvPr id="35" name="Text 33"/>
          <p:cNvSpPr txBox="1"/>
          <p:nvPr/>
        </p:nvSpPr>
        <p:spPr>
          <a:xfrm>
            <a:off x="6629400" y="5303520"/>
            <a:ext cx="4800600" cy="914400"/>
          </a:xfrm>
          <a:prstGeom prst="rect">
            <a:avLst/>
          </a:prstGeom>
          <a:noFill/>
          <a:ln/>
        </p:spPr>
        <p:txBody>
          <a:bodyPr wrap="square" lIns="0" tIns="0" rIns="0" bIns="0" rtlCol="0" anchor="ctr"/>
          <a:lstStyle/>
          <a:p>
            <a:pPr marL="0" indent="0">
              <a:buNone/>
            </a:pPr>
            <a:r>
              <a:rPr lang="en-US" sz="1400" b="1" dirty="0">
                <a:solidFill>
                  <a:srgbClr val="C8691A"/>
                </a:solidFill>
              </a:rPr>
              <a:t>Limitation of scope  </a:t>
            </a:r>
            <a:r>
              <a:rPr lang="en-US" sz="1400" dirty="0">
                <a:solidFill>
                  <a:srgbClr val="1F2937"/>
                </a:solidFill>
              </a:rPr>
              <a:t>Synthetic darkening allows controlled comparison but may not represent real camera noise or color shifts.</a:t>
            </a:r>
            <a:endParaRPr lang="en-US" sz="1400" dirty="0"/>
          </a:p>
        </p:txBody>
      </p:sp>
      <p:sp>
        <p:nvSpPr>
          <p:cNvPr id="36"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Literature Review</a:t>
            </a:r>
            <a:endParaRPr lang="en-US" sz="30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3337560"/>
        </p:xfrm>
        <a:graphic>
          <a:graphicData uri="http://schemas.openxmlformats.org/drawingml/2006/table">
            <a:tbl>
              <a:tblPr/>
              <a:tblGrid>
                <a:gridCol w="731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rPr>
                        <a:t>Ref.</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rPr>
                        <a:t>Type</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rPr>
                        <a:t>Focus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rPr>
                        <a:t>Relevance to this project</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F2937"/>
                          </a:solidFill>
                        </a:rPr>
                        <a:t>[1]</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Foundational paper (1987)</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Adaptive histogram equalization and its variations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Local equalization; basis of the CLAHE baseline</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F2937"/>
                          </a:solidFill>
                        </a:rPr>
                        <a:t>[2]</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Foundational algorithm (1994)</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Contrast limited adaptive histogram equalization</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Clip limit is a parameter BCGAE selects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1F2937"/>
                          </a:solidFill>
                        </a:rPr>
                        <a:t>[3]</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Review (IEEE Access, 2020)</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Experiment-based review of low-light enhancement methods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Places classical methods among many approaches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1F2937"/>
                          </a:solidFill>
                        </a:rPr>
                        <a:t>[4]</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Survey (Heliyon, 2023)</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Survey on image enhancement for low-light images</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Recent overview for future comparison</a:t>
                      </a:r>
                      <a:endParaRPr lang="en-US" sz="1400" dirty="0"/>
                    </a:p>
                  </a:txBody>
                  <a:tcPr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card"/>
          <p:cNvSpPr/>
          <p:nvPr/>
        </p:nvSpPr>
        <p:spPr>
          <a:xfrm>
            <a:off x="548640" y="4754880"/>
            <a:ext cx="11091672" cy="1508760"/>
          </a:xfrm>
          <a:prstGeom prst="rect">
            <a:avLst/>
          </a:prstGeom>
          <a:solidFill>
            <a:srgbClr val="E0F4F3"/>
          </a:solidFill>
          <a:ln/>
        </p:spPr>
      </p:sp>
      <p:sp>
        <p:nvSpPr>
          <p:cNvPr id="5" name="Text 2"/>
          <p:cNvSpPr txBox="1"/>
          <p:nvPr/>
        </p:nvSpPr>
        <p:spPr>
          <a:xfrm>
            <a:off x="777240" y="4846320"/>
            <a:ext cx="10607040" cy="1325880"/>
          </a:xfrm>
          <a:prstGeom prst="rect">
            <a:avLst/>
          </a:prstGeom>
          <a:noFill/>
          <a:ln/>
        </p:spPr>
        <p:txBody>
          <a:bodyPr wrap="square" lIns="0" tIns="0" rIns="0" bIns="0" rtlCol="0" anchor="ctr"/>
          <a:lstStyle/>
          <a:p>
            <a:pPr marL="0" indent="0">
              <a:spcAft>
                <a:spcPts val="400"/>
              </a:spcAft>
              <a:buNone/>
            </a:pPr>
            <a:r>
              <a:rPr lang="en-US" sz="1500" b="1" dirty="0">
                <a:solidFill>
                  <a:srgbClr val="0E8C8C"/>
                </a:solidFill>
              </a:rPr>
              <a:t>Position of this project  </a:t>
            </a:r>
            <a:endParaRPr lang="en-US" sz="1500" dirty="0"/>
          </a:p>
          <a:p>
            <a:pPr marL="0" indent="0">
              <a:spcAft>
                <a:spcPts val="400"/>
              </a:spcAft>
              <a:buNone/>
            </a:pPr>
            <a:r>
              <a:rPr lang="en-US" sz="1500" dirty="0">
                <a:solidFill>
                  <a:srgbClr val="1F2937"/>
                </a:solidFill>
              </a:rPr>
              <a:t>BCGAE is a project-specific adaptive heuristic built from established classical tools (gamma correction and CLAHE). It is not claimed to be a new algorithm; the project measures how it behaves compared with fixed-parameter baselines.</a:t>
            </a:r>
            <a:endParaRPr lang="en-US" sz="15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Existing Methodologies: Four Baselines</a:t>
            </a:r>
            <a:endParaRPr lang="en-US" sz="3000" dirty="0"/>
          </a:p>
        </p:txBody>
      </p:sp>
      <p:graphicFrame>
        <p:nvGraphicFramePr>
          <p:cNvPr id="7" name="Baseline table"/>
          <p:cNvGraphicFramePr>
            <a:graphicFrameLocks noGrp="1"/>
          </p:cNvGraphicFramePr>
          <p:nvPr>
            <p:extLst>
              <p:ext uri="{D42A27DB-BD31-4B8C-83A1-F6EECF244321}">
                <p14:modId xmlns:p14="http://schemas.microsoft.com/office/powerpoint/2010/main" val="1579011935"/>
              </p:ext>
            </p:extLst>
          </p:nvPr>
        </p:nvGraphicFramePr>
        <p:xfrm>
          <a:off x="548640" y="1234440"/>
          <a:ext cx="7040880" cy="3145536"/>
        </p:xfrm>
        <a:graphic>
          <a:graphicData uri="http://schemas.openxmlformats.org/drawingml/2006/table">
            <a:tbl>
              <a:tblPr/>
              <a:tblGrid>
                <a:gridCol w="21031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rPr>
                        <a:t>Method</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Main advantage</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Main limitation</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1F2937"/>
                          </a:solidFill>
                        </a:rPr>
                        <a:t>1. Histogram equalization</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Simple; improves global contrast</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Can over-enhance; ignores local content</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1F2937"/>
                          </a:solidFill>
                        </a:rPr>
                        <a:t>2. Gamma correction</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Simple and fast; γ &lt; 1 brightens</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One fixed γ does not suit every image</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300" b="1" dirty="0">
                          <a:solidFill>
                            <a:srgbClr val="1F2937"/>
                          </a:solidFill>
                        </a:rPr>
                        <a:t>3. CLAHE</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Local detail; clip limit restrains amplification</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Depends on clip limit and tiles; can amplify noise</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300" b="1" dirty="0">
                          <a:solidFill>
                            <a:srgbClr val="1F2937"/>
                          </a:solidFill>
                        </a:rPr>
                        <a:t>4. Fixed gamma + CLAHE</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Combines brightening with local contrast</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Not guaranteed better; same settings for all images</a:t>
                      </a:r>
                      <a:endParaRPr lang="en-US" sz="1300" dirty="0"/>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card"/>
          <p:cNvSpPr/>
          <p:nvPr/>
        </p:nvSpPr>
        <p:spPr>
          <a:xfrm>
            <a:off x="548640" y="4572000"/>
            <a:ext cx="3383280" cy="1691640"/>
          </a:xfrm>
          <a:prstGeom prst="rect">
            <a:avLst/>
          </a:prstGeom>
          <a:solidFill>
            <a:srgbClr val="F1F5F9"/>
          </a:solidFill>
          <a:ln/>
        </p:spPr>
      </p:sp>
      <p:sp>
        <p:nvSpPr>
          <p:cNvPr id="5" name="Text 2"/>
          <p:cNvSpPr txBox="1"/>
          <p:nvPr/>
        </p:nvSpPr>
        <p:spPr>
          <a:xfrm>
            <a:off x="731520" y="4645152"/>
            <a:ext cx="3017520" cy="274320"/>
          </a:xfrm>
          <a:prstGeom prst="rect">
            <a:avLst/>
          </a:prstGeom>
          <a:noFill/>
          <a:ln/>
        </p:spPr>
        <p:txBody>
          <a:bodyPr wrap="square" lIns="0" tIns="0" rIns="0" bIns="0" rtlCol="0" anchor="t"/>
          <a:lstStyle/>
          <a:p>
            <a:pPr marL="0" indent="0">
              <a:buNone/>
            </a:pPr>
            <a:r>
              <a:rPr lang="en-US" sz="1300" b="1" dirty="0">
                <a:solidFill>
                  <a:srgbClr val="0E8C8C"/>
                </a:solidFill>
              </a:rPr>
              <a:t>Gamma correction</a:t>
            </a:r>
            <a:endParaRPr lang="en-US" sz="1300" dirty="0"/>
          </a:p>
        </p:txBody>
      </p:sp>
      <p:sp>
        <p:nvSpPr>
          <p:cNvPr id="6" name="Text 3"/>
          <p:cNvSpPr txBox="1"/>
          <p:nvPr/>
        </p:nvSpPr>
        <p:spPr>
          <a:xfrm>
            <a:off x="731520" y="4937760"/>
            <a:ext cx="3017520" cy="457200"/>
          </a:xfrm>
          <a:prstGeom prst="rect">
            <a:avLst/>
          </a:prstGeom>
          <a:noFill/>
          <a:ln/>
        </p:spPr>
        <p:txBody>
          <a:bodyPr wrap="square" lIns="0" tIns="0" rIns="0" bIns="0" rtlCol="0" anchor="t"/>
          <a:lstStyle/>
          <a:p>
            <a:pPr marL="0" indent="0">
              <a:buNone/>
            </a:pPr>
            <a:r>
              <a:rPr lang="en-US" sz="2200" dirty="0">
                <a:solidFill>
                  <a:srgbClr val="0B2545"/>
                </a:solidFill>
                <a:latin typeface="Cambria" pitchFamily="34" charset="0"/>
                <a:ea typeface="Cambria" pitchFamily="34" charset="-122"/>
                <a:cs typeface="Cambria" pitchFamily="34" charset="-120"/>
              </a:rPr>
              <a:t>I</a:t>
            </a:r>
            <a:r>
              <a:rPr lang="en-US" sz="2200" baseline="-40000" dirty="0">
                <a:solidFill>
                  <a:srgbClr val="0B2545"/>
                </a:solidFill>
                <a:latin typeface="Cambria" pitchFamily="34" charset="0"/>
                <a:ea typeface="Cambria" pitchFamily="34" charset="-122"/>
                <a:cs typeface="Cambria" pitchFamily="34" charset="-120"/>
              </a:rPr>
              <a:t>out</a:t>
            </a:r>
            <a:r>
              <a:rPr lang="en-US" sz="2200" dirty="0">
                <a:solidFill>
                  <a:srgbClr val="0B2545"/>
                </a:solidFill>
                <a:latin typeface="Cambria" pitchFamily="34" charset="0"/>
                <a:ea typeface="Cambria" pitchFamily="34" charset="-122"/>
                <a:cs typeface="Cambria" pitchFamily="34" charset="-120"/>
              </a:rPr>
              <a:t> = I</a:t>
            </a:r>
            <a:r>
              <a:rPr lang="en-US" sz="2200" baseline="-40000" dirty="0">
                <a:solidFill>
                  <a:srgbClr val="0B2545"/>
                </a:solidFill>
                <a:latin typeface="Cambria" pitchFamily="34" charset="0"/>
                <a:ea typeface="Cambria" pitchFamily="34" charset="-122"/>
                <a:cs typeface="Cambria" pitchFamily="34" charset="-120"/>
              </a:rPr>
              <a:t>in</a:t>
            </a:r>
            <a:r>
              <a:rPr lang="en-US" sz="2200" baseline="30000" dirty="0">
                <a:solidFill>
                  <a:srgbClr val="0B2545"/>
                </a:solidFill>
                <a:latin typeface="Cambria" pitchFamily="34" charset="0"/>
                <a:ea typeface="Cambria" pitchFamily="34" charset="-122"/>
                <a:cs typeface="Cambria" pitchFamily="34" charset="-120"/>
              </a:rPr>
              <a:t>γ</a:t>
            </a:r>
            <a:endParaRPr lang="en-US" sz="2200" dirty="0"/>
          </a:p>
        </p:txBody>
      </p:sp>
      <p:sp>
        <p:nvSpPr>
          <p:cNvPr id="3" name="Text 4"/>
          <p:cNvSpPr txBox="1"/>
          <p:nvPr/>
        </p:nvSpPr>
        <p:spPr>
          <a:xfrm>
            <a:off x="731520" y="5468112"/>
            <a:ext cx="3017520" cy="731520"/>
          </a:xfrm>
          <a:prstGeom prst="rect">
            <a:avLst/>
          </a:prstGeom>
          <a:noFill/>
          <a:ln/>
        </p:spPr>
        <p:txBody>
          <a:bodyPr wrap="square" lIns="0" tIns="0" rIns="0" bIns="0" rtlCol="0" anchor="t"/>
          <a:lstStyle/>
          <a:p>
            <a:pPr marL="0" indent="0">
              <a:buNone/>
            </a:pPr>
            <a:r>
              <a:rPr lang="en-US" sz="1300" dirty="0">
                <a:solidFill>
                  <a:srgbClr val="1F2937"/>
                </a:solidFill>
              </a:rPr>
              <a:t>Intensity normalized to [0, 1]. γ &lt; 1 brightens; γ &gt; 1 darkens.</a:t>
            </a:r>
            <a:endParaRPr lang="en-US" sz="1300" dirty="0"/>
          </a:p>
        </p:txBody>
      </p:sp>
      <p:sp>
        <p:nvSpPr>
          <p:cNvPr id="8" name="card"/>
          <p:cNvSpPr/>
          <p:nvPr/>
        </p:nvSpPr>
        <p:spPr>
          <a:xfrm>
            <a:off x="4206240" y="4572000"/>
            <a:ext cx="3383280" cy="1691640"/>
          </a:xfrm>
          <a:prstGeom prst="rect">
            <a:avLst/>
          </a:prstGeom>
          <a:solidFill>
            <a:srgbClr val="F1F5F9"/>
          </a:solidFill>
          <a:ln/>
        </p:spPr>
      </p:sp>
      <p:sp>
        <p:nvSpPr>
          <p:cNvPr id="9" name="Text 6"/>
          <p:cNvSpPr txBox="1"/>
          <p:nvPr/>
        </p:nvSpPr>
        <p:spPr>
          <a:xfrm>
            <a:off x="4389120" y="4645152"/>
            <a:ext cx="3017520" cy="274320"/>
          </a:xfrm>
          <a:prstGeom prst="rect">
            <a:avLst/>
          </a:prstGeom>
          <a:noFill/>
          <a:ln/>
        </p:spPr>
        <p:txBody>
          <a:bodyPr wrap="square" lIns="0" tIns="0" rIns="0" bIns="0" rtlCol="0" anchor="t"/>
          <a:lstStyle/>
          <a:p>
            <a:pPr marL="0" indent="0">
              <a:buNone/>
            </a:pPr>
            <a:r>
              <a:rPr lang="en-US" sz="1300" b="1" dirty="0">
                <a:solidFill>
                  <a:srgbClr val="0E8C8C"/>
                </a:solidFill>
              </a:rPr>
              <a:t>Method 4 pipeline</a:t>
            </a:r>
            <a:endParaRPr lang="en-US" sz="1300" dirty="0"/>
          </a:p>
        </p:txBody>
      </p:sp>
      <p:sp>
        <p:nvSpPr>
          <p:cNvPr id="10" name="node"/>
          <p:cNvSpPr/>
          <p:nvPr/>
        </p:nvSpPr>
        <p:spPr>
          <a:xfrm>
            <a:off x="4389120" y="5074920"/>
            <a:ext cx="658368" cy="548640"/>
          </a:xfrm>
          <a:prstGeom prst="roundRect">
            <a:avLst>
              <a:gd name="adj" fmla="val 1333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200" dirty="0">
                <a:solidFill>
                  <a:srgbClr val="1F2937"/>
                </a:solidFill>
              </a:rPr>
              <a:t>Input</a:t>
            </a:r>
            <a:endParaRPr lang="en-US" sz="1200" dirty="0"/>
          </a:p>
        </p:txBody>
      </p:sp>
      <p:sp>
        <p:nvSpPr>
          <p:cNvPr id="11" name="arrow"/>
          <p:cNvSpPr/>
          <p:nvPr/>
        </p:nvSpPr>
        <p:spPr>
          <a:xfrm>
            <a:off x="5047488" y="5349240"/>
            <a:ext cx="128016" cy="0"/>
          </a:xfrm>
          <a:prstGeom prst="line">
            <a:avLst/>
          </a:prstGeom>
          <a:noFill/>
          <a:ln w="22225">
            <a:solidFill>
              <a:srgbClr val="5B6573"/>
            </a:solidFill>
            <a:prstDash val="solid"/>
            <a:tailEnd type="triangle"/>
          </a:ln>
        </p:spPr>
      </p:sp>
      <p:sp>
        <p:nvSpPr>
          <p:cNvPr id="12" name="node"/>
          <p:cNvSpPr/>
          <p:nvPr/>
        </p:nvSpPr>
        <p:spPr>
          <a:xfrm>
            <a:off x="5175504" y="5074920"/>
            <a:ext cx="658368" cy="548640"/>
          </a:xfrm>
          <a:prstGeom prst="roundRect">
            <a:avLst>
              <a:gd name="adj" fmla="val 1333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200" dirty="0">
                <a:solidFill>
                  <a:srgbClr val="1F2937"/>
                </a:solidFill>
              </a:rPr>
              <a:t>Fixed γ</a:t>
            </a:r>
            <a:endParaRPr lang="en-US" sz="1200" dirty="0"/>
          </a:p>
        </p:txBody>
      </p:sp>
      <p:sp>
        <p:nvSpPr>
          <p:cNvPr id="13" name="arrow"/>
          <p:cNvSpPr/>
          <p:nvPr/>
        </p:nvSpPr>
        <p:spPr>
          <a:xfrm>
            <a:off x="5833872" y="5349240"/>
            <a:ext cx="128016" cy="0"/>
          </a:xfrm>
          <a:prstGeom prst="line">
            <a:avLst/>
          </a:prstGeom>
          <a:noFill/>
          <a:ln w="22225">
            <a:solidFill>
              <a:srgbClr val="5B6573"/>
            </a:solidFill>
            <a:prstDash val="solid"/>
            <a:tailEnd type="triangle"/>
          </a:ln>
        </p:spPr>
      </p:sp>
      <p:sp>
        <p:nvSpPr>
          <p:cNvPr id="14" name="node"/>
          <p:cNvSpPr/>
          <p:nvPr/>
        </p:nvSpPr>
        <p:spPr>
          <a:xfrm>
            <a:off x="5961888" y="5074920"/>
            <a:ext cx="658368" cy="548640"/>
          </a:xfrm>
          <a:prstGeom prst="roundRect">
            <a:avLst>
              <a:gd name="adj" fmla="val 1333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200" dirty="0">
                <a:solidFill>
                  <a:srgbClr val="1F2937"/>
                </a:solidFill>
              </a:rPr>
              <a:t>CLAHE</a:t>
            </a:r>
            <a:endParaRPr lang="en-US" sz="1200" dirty="0"/>
          </a:p>
        </p:txBody>
      </p:sp>
      <p:sp>
        <p:nvSpPr>
          <p:cNvPr id="15" name="arrow"/>
          <p:cNvSpPr/>
          <p:nvPr/>
        </p:nvSpPr>
        <p:spPr>
          <a:xfrm>
            <a:off x="6620256" y="5349240"/>
            <a:ext cx="128016" cy="0"/>
          </a:xfrm>
          <a:prstGeom prst="line">
            <a:avLst/>
          </a:prstGeom>
          <a:noFill/>
          <a:ln w="22225">
            <a:solidFill>
              <a:srgbClr val="5B6573"/>
            </a:solidFill>
            <a:prstDash val="solid"/>
            <a:tailEnd type="triangle"/>
          </a:ln>
        </p:spPr>
      </p:sp>
      <p:sp>
        <p:nvSpPr>
          <p:cNvPr id="16" name="node"/>
          <p:cNvSpPr/>
          <p:nvPr/>
        </p:nvSpPr>
        <p:spPr>
          <a:xfrm>
            <a:off x="6748272" y="5074920"/>
            <a:ext cx="658368" cy="548640"/>
          </a:xfrm>
          <a:prstGeom prst="roundRect">
            <a:avLst>
              <a:gd name="adj" fmla="val 13333"/>
            </a:avLst>
          </a:prstGeom>
          <a:solidFill>
            <a:srgbClr val="FFFFFF"/>
          </a:solidFill>
          <a:ln w="15875">
            <a:solidFill>
              <a:srgbClr val="CBD5E1"/>
            </a:solidFill>
          </a:ln>
        </p:spPr>
        <p:txBody>
          <a:bodyPr wrap="square" lIns="50800" tIns="50800" rIns="50800" bIns="50800" rtlCol="0" anchor="ctr"/>
          <a:lstStyle/>
          <a:p>
            <a:pPr marL="0" indent="0" algn="ctr">
              <a:buNone/>
            </a:pPr>
            <a:r>
              <a:rPr lang="en-US" sz="1200" dirty="0">
                <a:solidFill>
                  <a:srgbClr val="1F2937"/>
                </a:solidFill>
              </a:rPr>
              <a:t>Output</a:t>
            </a:r>
            <a:endParaRPr lang="en-US" sz="1200" dirty="0"/>
          </a:p>
        </p:txBody>
      </p:sp>
      <p:sp>
        <p:nvSpPr>
          <p:cNvPr id="17" name="Text 14"/>
          <p:cNvSpPr txBox="1"/>
          <p:nvPr/>
        </p:nvSpPr>
        <p:spPr>
          <a:xfrm>
            <a:off x="4389120" y="5760720"/>
            <a:ext cx="3017520" cy="457200"/>
          </a:xfrm>
          <a:prstGeom prst="rect">
            <a:avLst/>
          </a:prstGeom>
          <a:noFill/>
          <a:ln/>
        </p:spPr>
        <p:txBody>
          <a:bodyPr wrap="square" lIns="0" tIns="0" rIns="0" bIns="0" rtlCol="0" anchor="t"/>
          <a:lstStyle/>
          <a:p>
            <a:pPr marL="0" indent="0">
              <a:buNone/>
            </a:pPr>
            <a:r>
              <a:rPr lang="en-US" sz="1200" dirty="0">
                <a:solidFill>
                  <a:srgbClr val="5B6573"/>
                </a:solidFill>
              </a:rPr>
              <a:t>Combining methods does not automatically guarantee better results.</a:t>
            </a:r>
            <a:endParaRPr lang="en-US" sz="1200" dirty="0"/>
          </a:p>
        </p:txBody>
      </p:sp>
      <p:pic>
        <p:nvPicPr>
          <p:cNvPr id="18" name="Histogram eq." descr="p/he.jpg"/>
          <p:cNvPicPr>
            <a:picLocks noChangeAspect="1"/>
          </p:cNvPicPr>
          <p:nvPr/>
        </p:nvPicPr>
        <p:blipFill>
          <a:blip r:embed="rId3"/>
          <a:stretch>
            <a:fillRect/>
          </a:stretch>
        </p:blipFill>
        <p:spPr>
          <a:xfrm>
            <a:off x="7863840" y="1234440"/>
            <a:ext cx="1828800" cy="1216152"/>
          </a:xfrm>
          <a:prstGeom prst="rect">
            <a:avLst/>
          </a:prstGeom>
        </p:spPr>
      </p:pic>
      <p:sp>
        <p:nvSpPr>
          <p:cNvPr id="19" name="Text 15"/>
          <p:cNvSpPr txBox="1"/>
          <p:nvPr/>
        </p:nvSpPr>
        <p:spPr>
          <a:xfrm>
            <a:off x="7863840" y="2478024"/>
            <a:ext cx="1828800" cy="256032"/>
          </a:xfrm>
          <a:prstGeom prst="rect">
            <a:avLst/>
          </a:prstGeom>
          <a:noFill/>
          <a:ln/>
        </p:spPr>
        <p:txBody>
          <a:bodyPr wrap="square" lIns="0" tIns="0" rIns="0" bIns="0" rtlCol="0" anchor="t"/>
          <a:lstStyle/>
          <a:p>
            <a:pPr marL="0" indent="0" algn="ctr">
              <a:buNone/>
            </a:pPr>
            <a:r>
              <a:rPr lang="en-US" sz="1200" b="1" dirty="0">
                <a:solidFill>
                  <a:srgbClr val="0B2545"/>
                </a:solidFill>
              </a:rPr>
              <a:t>Histogram eq.</a:t>
            </a:r>
            <a:endParaRPr lang="en-US" sz="1200" dirty="0"/>
          </a:p>
        </p:txBody>
      </p:sp>
      <p:pic>
        <p:nvPicPr>
          <p:cNvPr id="20" name="Gamma" descr="p/gamma.jpg"/>
          <p:cNvPicPr>
            <a:picLocks noChangeAspect="1"/>
          </p:cNvPicPr>
          <p:nvPr/>
        </p:nvPicPr>
        <p:blipFill>
          <a:blip r:embed="rId4"/>
          <a:stretch>
            <a:fillRect/>
          </a:stretch>
        </p:blipFill>
        <p:spPr>
          <a:xfrm>
            <a:off x="9784080" y="1234440"/>
            <a:ext cx="1828800" cy="1216152"/>
          </a:xfrm>
          <a:prstGeom prst="rect">
            <a:avLst/>
          </a:prstGeom>
        </p:spPr>
      </p:pic>
      <p:sp>
        <p:nvSpPr>
          <p:cNvPr id="21" name="Text 16"/>
          <p:cNvSpPr txBox="1"/>
          <p:nvPr/>
        </p:nvSpPr>
        <p:spPr>
          <a:xfrm>
            <a:off x="9784080" y="2478024"/>
            <a:ext cx="1828800" cy="256032"/>
          </a:xfrm>
          <a:prstGeom prst="rect">
            <a:avLst/>
          </a:prstGeom>
          <a:noFill/>
          <a:ln/>
        </p:spPr>
        <p:txBody>
          <a:bodyPr wrap="square" lIns="0" tIns="0" rIns="0" bIns="0" rtlCol="0" anchor="t"/>
          <a:lstStyle/>
          <a:p>
            <a:pPr marL="0" indent="0" algn="ctr">
              <a:buNone/>
            </a:pPr>
            <a:r>
              <a:rPr lang="en-US" sz="1200" b="1" dirty="0">
                <a:solidFill>
                  <a:srgbClr val="0B2545"/>
                </a:solidFill>
              </a:rPr>
              <a:t>Gamma</a:t>
            </a:r>
            <a:endParaRPr lang="en-US" sz="1200" dirty="0"/>
          </a:p>
        </p:txBody>
      </p:sp>
      <p:pic>
        <p:nvPicPr>
          <p:cNvPr id="22" name="CLAHE" descr="p/clahe.jpg"/>
          <p:cNvPicPr>
            <a:picLocks noChangeAspect="1"/>
          </p:cNvPicPr>
          <p:nvPr/>
        </p:nvPicPr>
        <p:blipFill>
          <a:blip r:embed="rId5"/>
          <a:stretch>
            <a:fillRect/>
          </a:stretch>
        </p:blipFill>
        <p:spPr>
          <a:xfrm>
            <a:off x="7863840" y="3063240"/>
            <a:ext cx="1828800" cy="1216152"/>
          </a:xfrm>
          <a:prstGeom prst="rect">
            <a:avLst/>
          </a:prstGeom>
        </p:spPr>
      </p:pic>
      <p:sp>
        <p:nvSpPr>
          <p:cNvPr id="23" name="Text 17"/>
          <p:cNvSpPr txBox="1"/>
          <p:nvPr/>
        </p:nvSpPr>
        <p:spPr>
          <a:xfrm>
            <a:off x="7863840" y="4306824"/>
            <a:ext cx="1828800" cy="256032"/>
          </a:xfrm>
          <a:prstGeom prst="rect">
            <a:avLst/>
          </a:prstGeom>
          <a:noFill/>
          <a:ln/>
        </p:spPr>
        <p:txBody>
          <a:bodyPr wrap="square" lIns="0" tIns="0" rIns="0" bIns="0" rtlCol="0" anchor="t"/>
          <a:lstStyle/>
          <a:p>
            <a:pPr marL="0" indent="0" algn="ctr">
              <a:buNone/>
            </a:pPr>
            <a:r>
              <a:rPr lang="en-US" sz="1200" b="1" dirty="0">
                <a:solidFill>
                  <a:srgbClr val="0B2545"/>
                </a:solidFill>
              </a:rPr>
              <a:t>CLAHE</a:t>
            </a:r>
            <a:endParaRPr lang="en-US" sz="1200" dirty="0"/>
          </a:p>
        </p:txBody>
      </p:sp>
      <p:pic>
        <p:nvPicPr>
          <p:cNvPr id="24" name="Gamma + CLAHE" descr="p/gclahe.jpg"/>
          <p:cNvPicPr>
            <a:picLocks noChangeAspect="1"/>
          </p:cNvPicPr>
          <p:nvPr/>
        </p:nvPicPr>
        <p:blipFill>
          <a:blip r:embed="rId6"/>
          <a:stretch>
            <a:fillRect/>
          </a:stretch>
        </p:blipFill>
        <p:spPr>
          <a:xfrm>
            <a:off x="9784080" y="3063240"/>
            <a:ext cx="1828800" cy="1216152"/>
          </a:xfrm>
          <a:prstGeom prst="rect">
            <a:avLst/>
          </a:prstGeom>
        </p:spPr>
      </p:pic>
      <p:sp>
        <p:nvSpPr>
          <p:cNvPr id="25" name="Text 18"/>
          <p:cNvSpPr txBox="1"/>
          <p:nvPr/>
        </p:nvSpPr>
        <p:spPr>
          <a:xfrm>
            <a:off x="9784080" y="4306824"/>
            <a:ext cx="1828800" cy="256032"/>
          </a:xfrm>
          <a:prstGeom prst="rect">
            <a:avLst/>
          </a:prstGeom>
          <a:noFill/>
          <a:ln/>
        </p:spPr>
        <p:txBody>
          <a:bodyPr wrap="square" lIns="0" tIns="0" rIns="0" bIns="0" rtlCol="0" anchor="t"/>
          <a:lstStyle/>
          <a:p>
            <a:pPr marL="0" indent="0" algn="ctr">
              <a:buNone/>
            </a:pPr>
            <a:r>
              <a:rPr lang="en-US" sz="1200" b="1" dirty="0">
                <a:solidFill>
                  <a:srgbClr val="0B2545"/>
                </a:solidFill>
              </a:rPr>
              <a:t>Gamma + CLAHE</a:t>
            </a:r>
            <a:endParaRPr lang="en-US" sz="1200" dirty="0"/>
          </a:p>
        </p:txBody>
      </p:sp>
      <p:sp>
        <p:nvSpPr>
          <p:cNvPr id="26" name="Text 19"/>
          <p:cNvSpPr txBox="1"/>
          <p:nvPr/>
        </p:nvSpPr>
        <p:spPr>
          <a:xfrm>
            <a:off x="7863840" y="4709160"/>
            <a:ext cx="3749040" cy="457200"/>
          </a:xfrm>
          <a:prstGeom prst="rect">
            <a:avLst/>
          </a:prstGeom>
          <a:noFill/>
          <a:ln/>
        </p:spPr>
        <p:txBody>
          <a:bodyPr wrap="square" lIns="0" tIns="0" rIns="0" bIns="0" rtlCol="0" anchor="t"/>
          <a:lstStyle/>
          <a:p>
            <a:pPr marL="0" indent="0">
              <a:buNone/>
            </a:pPr>
            <a:r>
              <a:rPr lang="en-US" sz="1100" dirty="0">
                <a:solidFill>
                  <a:srgbClr val="5B6573"/>
                </a:solidFill>
              </a:rPr>
              <a:t>Actual outputs for one image: IMG10_Sunflower, Severe level.</a:t>
            </a:r>
            <a:endParaRPr lang="en-US" sz="1100" dirty="0"/>
          </a:p>
        </p:txBody>
      </p:sp>
      <p:sp>
        <p:nvSpPr>
          <p:cNvPr id="27"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Proposed Method: BCGAE Parameter Selection</a:t>
            </a:r>
            <a:endParaRPr lang="en-US" sz="3000" dirty="0"/>
          </a:p>
        </p:txBody>
      </p:sp>
      <p:sp>
        <p:nvSpPr>
          <p:cNvPr id="3" name="flow1"/>
          <p:cNvSpPr/>
          <p:nvPr/>
        </p:nvSpPr>
        <p:spPr>
          <a:xfrm>
            <a:off x="548640" y="1325880"/>
            <a:ext cx="1444752" cy="1143000"/>
          </a:xfrm>
          <a:prstGeom prst="roundRect">
            <a:avLst>
              <a:gd name="adj" fmla="val 6400"/>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Input low-light image</a:t>
            </a:r>
            <a:endParaRPr lang="en-US" sz="1300" dirty="0"/>
          </a:p>
        </p:txBody>
      </p:sp>
      <p:sp>
        <p:nvSpPr>
          <p:cNvPr id="4" name="arrow"/>
          <p:cNvSpPr/>
          <p:nvPr/>
        </p:nvSpPr>
        <p:spPr>
          <a:xfrm>
            <a:off x="1993392" y="1897380"/>
            <a:ext cx="164592" cy="0"/>
          </a:xfrm>
          <a:prstGeom prst="line">
            <a:avLst/>
          </a:prstGeom>
          <a:noFill/>
          <a:ln w="22225">
            <a:solidFill>
              <a:srgbClr val="5B6573"/>
            </a:solidFill>
            <a:prstDash val="solid"/>
            <a:tailEnd type="triangle"/>
          </a:ln>
        </p:spPr>
      </p:sp>
      <p:sp>
        <p:nvSpPr>
          <p:cNvPr id="5" name="flow2"/>
          <p:cNvSpPr/>
          <p:nvPr/>
        </p:nvSpPr>
        <p:spPr>
          <a:xfrm>
            <a:off x="2157984" y="1325880"/>
            <a:ext cx="1444752" cy="1143000"/>
          </a:xfrm>
          <a:prstGeom prst="roundRect">
            <a:avLst>
              <a:gd name="adj" fmla="val 6400"/>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Luminance conversion</a:t>
            </a:r>
            <a:endParaRPr lang="en-US" sz="1300" dirty="0"/>
          </a:p>
        </p:txBody>
      </p:sp>
      <p:sp>
        <p:nvSpPr>
          <p:cNvPr id="6" name="arrow"/>
          <p:cNvSpPr/>
          <p:nvPr/>
        </p:nvSpPr>
        <p:spPr>
          <a:xfrm>
            <a:off x="3602736" y="1897380"/>
            <a:ext cx="164592" cy="0"/>
          </a:xfrm>
          <a:prstGeom prst="line">
            <a:avLst/>
          </a:prstGeom>
          <a:noFill/>
          <a:ln w="22225">
            <a:solidFill>
              <a:srgbClr val="5B6573"/>
            </a:solidFill>
            <a:prstDash val="solid"/>
            <a:tailEnd type="triangle"/>
          </a:ln>
        </p:spPr>
      </p:sp>
      <p:sp>
        <p:nvSpPr>
          <p:cNvPr id="7" name="flow3"/>
          <p:cNvSpPr/>
          <p:nvPr/>
        </p:nvSpPr>
        <p:spPr>
          <a:xfrm>
            <a:off x="3767328" y="1325880"/>
            <a:ext cx="1444752" cy="1143000"/>
          </a:xfrm>
          <a:prstGeom prst="roundRect">
            <a:avLst>
              <a:gd name="adj" fmla="val 6400"/>
            </a:avLst>
          </a:prstGeom>
          <a:solidFill>
            <a:srgbClr val="0E8C8C"/>
          </a:solidFill>
          <a:ln w="15875">
            <a:solidFill>
              <a:srgbClr val="0E8C8C"/>
            </a:solidFill>
          </a:ln>
        </p:spPr>
        <p:txBody>
          <a:bodyPr wrap="square" lIns="50800" tIns="50800" rIns="50800" bIns="50800" rtlCol="0" anchor="ctr"/>
          <a:lstStyle/>
          <a:p>
            <a:pPr marL="0" indent="0" algn="ctr">
              <a:buNone/>
            </a:pPr>
            <a:r>
              <a:rPr lang="en-US" sz="1300" b="1" dirty="0">
                <a:solidFill>
                  <a:srgbClr val="FFFFFF"/>
                </a:solidFill>
              </a:rPr>
              <a:t>Measure brightness B and contrast C</a:t>
            </a:r>
            <a:endParaRPr lang="en-US" sz="1300" dirty="0"/>
          </a:p>
        </p:txBody>
      </p:sp>
      <p:sp>
        <p:nvSpPr>
          <p:cNvPr id="8" name="arrow"/>
          <p:cNvSpPr/>
          <p:nvPr/>
        </p:nvSpPr>
        <p:spPr>
          <a:xfrm>
            <a:off x="5212080" y="1897380"/>
            <a:ext cx="164592" cy="0"/>
          </a:xfrm>
          <a:prstGeom prst="line">
            <a:avLst/>
          </a:prstGeom>
          <a:noFill/>
          <a:ln w="22225">
            <a:solidFill>
              <a:srgbClr val="5B6573"/>
            </a:solidFill>
            <a:prstDash val="solid"/>
            <a:tailEnd type="triangle"/>
          </a:ln>
        </p:spPr>
      </p:sp>
      <p:sp>
        <p:nvSpPr>
          <p:cNvPr id="9" name="flow4"/>
          <p:cNvSpPr/>
          <p:nvPr/>
        </p:nvSpPr>
        <p:spPr>
          <a:xfrm>
            <a:off x="5376672" y="1325880"/>
            <a:ext cx="1444752" cy="1143000"/>
          </a:xfrm>
          <a:prstGeom prst="roundRect">
            <a:avLst>
              <a:gd name="adj" fmla="val 6400"/>
            </a:avLst>
          </a:prstGeom>
          <a:solidFill>
            <a:srgbClr val="0E8C8C"/>
          </a:solidFill>
          <a:ln w="15875">
            <a:solidFill>
              <a:srgbClr val="0E8C8C"/>
            </a:solidFill>
          </a:ln>
        </p:spPr>
        <p:txBody>
          <a:bodyPr wrap="square" lIns="50800" tIns="50800" rIns="50800" bIns="50800" rtlCol="0" anchor="ctr"/>
          <a:lstStyle/>
          <a:p>
            <a:pPr marL="0" indent="0" algn="ctr">
              <a:buNone/>
            </a:pPr>
            <a:r>
              <a:rPr lang="en-US" sz="1300" b="1" dirty="0">
                <a:solidFill>
                  <a:srgbClr val="FFFFFF"/>
                </a:solidFill>
              </a:rPr>
              <a:t>Select gamma from B and C</a:t>
            </a:r>
            <a:endParaRPr lang="en-US" sz="1300" dirty="0"/>
          </a:p>
        </p:txBody>
      </p:sp>
      <p:sp>
        <p:nvSpPr>
          <p:cNvPr id="10" name="arrow"/>
          <p:cNvSpPr/>
          <p:nvPr/>
        </p:nvSpPr>
        <p:spPr>
          <a:xfrm>
            <a:off x="6821424" y="1897380"/>
            <a:ext cx="164592" cy="0"/>
          </a:xfrm>
          <a:prstGeom prst="line">
            <a:avLst/>
          </a:prstGeom>
          <a:noFill/>
          <a:ln w="22225">
            <a:solidFill>
              <a:srgbClr val="5B6573"/>
            </a:solidFill>
            <a:prstDash val="solid"/>
            <a:tailEnd type="triangle"/>
          </a:ln>
        </p:spPr>
      </p:sp>
      <p:sp>
        <p:nvSpPr>
          <p:cNvPr id="11" name="flow5"/>
          <p:cNvSpPr/>
          <p:nvPr/>
        </p:nvSpPr>
        <p:spPr>
          <a:xfrm>
            <a:off x="6986016" y="1325880"/>
            <a:ext cx="1444752" cy="1143000"/>
          </a:xfrm>
          <a:prstGeom prst="roundRect">
            <a:avLst>
              <a:gd name="adj" fmla="val 6400"/>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Gamma correction</a:t>
            </a:r>
            <a:endParaRPr lang="en-US" sz="1300" dirty="0"/>
          </a:p>
        </p:txBody>
      </p:sp>
      <p:sp>
        <p:nvSpPr>
          <p:cNvPr id="12" name="arrow"/>
          <p:cNvSpPr/>
          <p:nvPr/>
        </p:nvSpPr>
        <p:spPr>
          <a:xfrm>
            <a:off x="8430768" y="1897380"/>
            <a:ext cx="164592" cy="0"/>
          </a:xfrm>
          <a:prstGeom prst="line">
            <a:avLst/>
          </a:prstGeom>
          <a:noFill/>
          <a:ln w="22225">
            <a:solidFill>
              <a:srgbClr val="5B6573"/>
            </a:solidFill>
            <a:prstDash val="solid"/>
            <a:tailEnd type="triangle"/>
          </a:ln>
        </p:spPr>
      </p:sp>
      <p:sp>
        <p:nvSpPr>
          <p:cNvPr id="13" name="flow6"/>
          <p:cNvSpPr/>
          <p:nvPr/>
        </p:nvSpPr>
        <p:spPr>
          <a:xfrm>
            <a:off x="8595360" y="1325880"/>
            <a:ext cx="1444752" cy="1143000"/>
          </a:xfrm>
          <a:prstGeom prst="roundRect">
            <a:avLst>
              <a:gd name="adj" fmla="val 6400"/>
            </a:avLst>
          </a:prstGeom>
          <a:solidFill>
            <a:srgbClr val="0E8C8C"/>
          </a:solidFill>
          <a:ln w="15875">
            <a:solidFill>
              <a:srgbClr val="0E8C8C"/>
            </a:solidFill>
          </a:ln>
        </p:spPr>
        <p:txBody>
          <a:bodyPr wrap="square" lIns="50800" tIns="50800" rIns="50800" bIns="50800" rtlCol="0" anchor="ctr"/>
          <a:lstStyle/>
          <a:p>
            <a:pPr marL="0" indent="0" algn="ctr">
              <a:buNone/>
            </a:pPr>
            <a:r>
              <a:rPr lang="en-US" sz="1300" b="1" dirty="0">
                <a:solidFill>
                  <a:srgbClr val="FFFFFF"/>
                </a:solidFill>
              </a:rPr>
              <a:t>Select CLAHE clip limit from B and C</a:t>
            </a:r>
            <a:endParaRPr lang="en-US" sz="1300" dirty="0"/>
          </a:p>
        </p:txBody>
      </p:sp>
      <p:sp>
        <p:nvSpPr>
          <p:cNvPr id="14" name="arrow"/>
          <p:cNvSpPr/>
          <p:nvPr/>
        </p:nvSpPr>
        <p:spPr>
          <a:xfrm>
            <a:off x="10040112" y="1897380"/>
            <a:ext cx="164592" cy="0"/>
          </a:xfrm>
          <a:prstGeom prst="line">
            <a:avLst/>
          </a:prstGeom>
          <a:noFill/>
          <a:ln w="22225">
            <a:solidFill>
              <a:srgbClr val="5B6573"/>
            </a:solidFill>
            <a:prstDash val="solid"/>
            <a:tailEnd type="triangle"/>
          </a:ln>
        </p:spPr>
      </p:sp>
      <p:sp>
        <p:nvSpPr>
          <p:cNvPr id="15" name="flow7"/>
          <p:cNvSpPr/>
          <p:nvPr/>
        </p:nvSpPr>
        <p:spPr>
          <a:xfrm>
            <a:off x="10204704" y="1325880"/>
            <a:ext cx="1444752" cy="1143000"/>
          </a:xfrm>
          <a:prstGeom prst="roundRect">
            <a:avLst>
              <a:gd name="adj" fmla="val 6400"/>
            </a:avLst>
          </a:prstGeom>
          <a:solidFill>
            <a:srgbClr val="FFFFFF"/>
          </a:solidFill>
          <a:ln w="15875">
            <a:solidFill>
              <a:srgbClr val="CBD5E1"/>
            </a:solidFill>
          </a:ln>
        </p:spPr>
        <p:txBody>
          <a:bodyPr wrap="square" lIns="50800" tIns="50800" rIns="50800" bIns="50800" rtlCol="0" anchor="ctr"/>
          <a:lstStyle/>
          <a:p>
            <a:pPr marL="0" indent="0" algn="ctr">
              <a:buNone/>
            </a:pPr>
            <a:r>
              <a:rPr lang="en-US" sz="1300" dirty="0">
                <a:solidFill>
                  <a:srgbClr val="1F2937"/>
                </a:solidFill>
              </a:rPr>
              <a:t>CLAHE and color reconstruction</a:t>
            </a:r>
            <a:endParaRPr lang="en-US" sz="1300" dirty="0"/>
          </a:p>
        </p:txBody>
      </p:sp>
      <p:sp>
        <p:nvSpPr>
          <p:cNvPr id="16" name="Text 14"/>
          <p:cNvSpPr txBox="1"/>
          <p:nvPr/>
        </p:nvSpPr>
        <p:spPr>
          <a:xfrm>
            <a:off x="548640" y="2560320"/>
            <a:ext cx="10972800" cy="274320"/>
          </a:xfrm>
          <a:prstGeom prst="rect">
            <a:avLst/>
          </a:prstGeom>
          <a:noFill/>
          <a:ln/>
        </p:spPr>
        <p:txBody>
          <a:bodyPr wrap="square" lIns="0" tIns="0" rIns="0" bIns="0" rtlCol="0" anchor="t"/>
          <a:lstStyle/>
          <a:p>
            <a:pPr marL="0" indent="0">
              <a:buNone/>
            </a:pPr>
            <a:r>
              <a:rPr lang="en-US" sz="1200" dirty="0">
                <a:solidFill>
                  <a:srgbClr val="5B6573"/>
                </a:solidFill>
              </a:rPr>
              <a:t>Teal steps are the adaptive part of BCGAE; other steps are standard operations.</a:t>
            </a:r>
            <a:endParaRPr lang="en-US" sz="1200" dirty="0"/>
          </a:p>
        </p:txBody>
      </p:sp>
      <p:sp>
        <p:nvSpPr>
          <p:cNvPr id="17" name="card"/>
          <p:cNvSpPr/>
          <p:nvPr/>
        </p:nvSpPr>
        <p:spPr>
          <a:xfrm>
            <a:off x="548640" y="3017520"/>
            <a:ext cx="3593592" cy="2286000"/>
          </a:xfrm>
          <a:prstGeom prst="rect">
            <a:avLst/>
          </a:prstGeom>
          <a:solidFill>
            <a:srgbClr val="F1F5F9"/>
          </a:solidFill>
          <a:ln/>
        </p:spPr>
      </p:sp>
      <p:sp>
        <p:nvSpPr>
          <p:cNvPr id="18" name="Text 16"/>
          <p:cNvSpPr txBox="1"/>
          <p:nvPr/>
        </p:nvSpPr>
        <p:spPr>
          <a:xfrm>
            <a:off x="731520" y="3108960"/>
            <a:ext cx="3200400" cy="320040"/>
          </a:xfrm>
          <a:prstGeom prst="rect">
            <a:avLst/>
          </a:prstGeom>
          <a:noFill/>
          <a:ln/>
        </p:spPr>
        <p:txBody>
          <a:bodyPr wrap="square" lIns="0" tIns="0" rIns="0" bIns="0" rtlCol="0" anchor="t"/>
          <a:lstStyle/>
          <a:p>
            <a:pPr marL="0" indent="0">
              <a:buNone/>
            </a:pPr>
            <a:r>
              <a:rPr lang="en-US" sz="1600" b="1" dirty="0">
                <a:solidFill>
                  <a:srgbClr val="0B2545"/>
                </a:solidFill>
              </a:rPr>
              <a:t>Brightness B</a:t>
            </a:r>
            <a:endParaRPr lang="en-US" sz="1600" dirty="0"/>
          </a:p>
        </p:txBody>
      </p:sp>
      <p:sp>
        <p:nvSpPr>
          <p:cNvPr id="19" name="Text 17"/>
          <p:cNvSpPr txBox="1"/>
          <p:nvPr/>
        </p:nvSpPr>
        <p:spPr>
          <a:xfrm>
            <a:off x="731520" y="3520440"/>
            <a:ext cx="3246120" cy="457200"/>
          </a:xfrm>
          <a:prstGeom prst="rect">
            <a:avLst/>
          </a:prstGeom>
          <a:noFill/>
          <a:ln/>
        </p:spPr>
        <p:txBody>
          <a:bodyPr wrap="square" lIns="0" tIns="0" rIns="0" bIns="0" rtlCol="0" anchor="t"/>
          <a:lstStyle/>
          <a:p>
            <a:pPr marL="0" indent="0">
              <a:buNone/>
            </a:pPr>
            <a:r>
              <a:rPr lang="en-US" sz="1800" b="1" dirty="0">
                <a:solidFill>
                  <a:srgbClr val="0E8C8C"/>
                </a:solidFill>
                <a:latin typeface="Cambria" pitchFamily="34" charset="0"/>
                <a:ea typeface="Cambria" pitchFamily="34" charset="-122"/>
                <a:cs typeface="Cambria" pitchFamily="34" charset="-120"/>
              </a:rPr>
              <a:t>B = (1/N) Σ I(x,y)</a:t>
            </a:r>
            <a:endParaRPr lang="en-US" sz="1800" dirty="0"/>
          </a:p>
        </p:txBody>
      </p:sp>
      <p:sp>
        <p:nvSpPr>
          <p:cNvPr id="20" name="Text 18"/>
          <p:cNvSpPr txBox="1"/>
          <p:nvPr/>
        </p:nvSpPr>
        <p:spPr>
          <a:xfrm>
            <a:off x="731520" y="4114800"/>
            <a:ext cx="3246120" cy="1143000"/>
          </a:xfrm>
          <a:prstGeom prst="rect">
            <a:avLst/>
          </a:prstGeom>
          <a:noFill/>
          <a:ln/>
        </p:spPr>
        <p:txBody>
          <a:bodyPr wrap="square" lIns="0" tIns="0" rIns="0" bIns="0" rtlCol="0" anchor="t"/>
          <a:lstStyle/>
          <a:p>
            <a:pPr marL="0" indent="0">
              <a:buNone/>
            </a:pPr>
            <a:r>
              <a:rPr lang="en-US" sz="1400" dirty="0">
                <a:solidFill>
                  <a:srgbClr val="1F2937"/>
                </a:solidFill>
              </a:rPr>
              <a:t>Mean luminance; N is the number of pixels.</a:t>
            </a:r>
            <a:endParaRPr lang="en-US" sz="1400" dirty="0"/>
          </a:p>
        </p:txBody>
      </p:sp>
      <p:sp>
        <p:nvSpPr>
          <p:cNvPr id="21" name="card"/>
          <p:cNvSpPr/>
          <p:nvPr/>
        </p:nvSpPr>
        <p:spPr>
          <a:xfrm>
            <a:off x="4297680" y="3017520"/>
            <a:ext cx="3593592" cy="2286000"/>
          </a:xfrm>
          <a:prstGeom prst="rect">
            <a:avLst/>
          </a:prstGeom>
          <a:solidFill>
            <a:srgbClr val="F1F5F9"/>
          </a:solidFill>
          <a:ln/>
        </p:spPr>
      </p:sp>
      <p:sp>
        <p:nvSpPr>
          <p:cNvPr id="22" name="Text 20"/>
          <p:cNvSpPr txBox="1"/>
          <p:nvPr/>
        </p:nvSpPr>
        <p:spPr>
          <a:xfrm>
            <a:off x="4480560" y="3108960"/>
            <a:ext cx="3200400" cy="320040"/>
          </a:xfrm>
          <a:prstGeom prst="rect">
            <a:avLst/>
          </a:prstGeom>
          <a:noFill/>
          <a:ln/>
        </p:spPr>
        <p:txBody>
          <a:bodyPr wrap="square" lIns="0" tIns="0" rIns="0" bIns="0" rtlCol="0" anchor="t"/>
          <a:lstStyle/>
          <a:p>
            <a:pPr marL="0" indent="0">
              <a:buNone/>
            </a:pPr>
            <a:r>
              <a:rPr lang="en-US" sz="1600" b="1" dirty="0">
                <a:solidFill>
                  <a:srgbClr val="0B2545"/>
                </a:solidFill>
              </a:rPr>
              <a:t>Contrast C</a:t>
            </a:r>
            <a:endParaRPr lang="en-US" sz="1600" dirty="0"/>
          </a:p>
        </p:txBody>
      </p:sp>
      <p:sp>
        <p:nvSpPr>
          <p:cNvPr id="23" name="Text 21"/>
          <p:cNvSpPr txBox="1"/>
          <p:nvPr/>
        </p:nvSpPr>
        <p:spPr>
          <a:xfrm>
            <a:off x="4480560" y="3520440"/>
            <a:ext cx="3246120" cy="457200"/>
          </a:xfrm>
          <a:prstGeom prst="rect">
            <a:avLst/>
          </a:prstGeom>
          <a:noFill/>
          <a:ln/>
        </p:spPr>
        <p:txBody>
          <a:bodyPr wrap="square" lIns="0" tIns="0" rIns="0" bIns="0" rtlCol="0" anchor="t"/>
          <a:lstStyle/>
          <a:p>
            <a:pPr marL="0" indent="0">
              <a:buNone/>
            </a:pPr>
            <a:r>
              <a:rPr lang="en-US" sz="1800" b="1" dirty="0">
                <a:solidFill>
                  <a:srgbClr val="0E8C8C"/>
                </a:solidFill>
                <a:latin typeface="Cambria" pitchFamily="34" charset="0"/>
                <a:ea typeface="Cambria" pitchFamily="34" charset="-122"/>
                <a:cs typeface="Cambria" pitchFamily="34" charset="-120"/>
              </a:rPr>
              <a:t>C = std. dev. of I(x,y)</a:t>
            </a:r>
            <a:endParaRPr lang="en-US" sz="1800" dirty="0"/>
          </a:p>
        </p:txBody>
      </p:sp>
      <p:sp>
        <p:nvSpPr>
          <p:cNvPr id="24" name="Text 22"/>
          <p:cNvSpPr txBox="1"/>
          <p:nvPr/>
        </p:nvSpPr>
        <p:spPr>
          <a:xfrm>
            <a:off x="4480560" y="4114800"/>
            <a:ext cx="3246120" cy="1143000"/>
          </a:xfrm>
          <a:prstGeom prst="rect">
            <a:avLst/>
          </a:prstGeom>
          <a:noFill/>
          <a:ln/>
        </p:spPr>
        <p:txBody>
          <a:bodyPr wrap="square" lIns="0" tIns="0" rIns="0" bIns="0" rtlCol="0" anchor="t"/>
          <a:lstStyle/>
          <a:p>
            <a:pPr marL="0" indent="0">
              <a:buNone/>
            </a:pPr>
            <a:r>
              <a:rPr lang="en-US" sz="1400" dirty="0">
                <a:solidFill>
                  <a:srgbClr val="1F2937"/>
                </a:solidFill>
              </a:rPr>
              <a:t>Simple global contrast indicator; does not capture local contrast.</a:t>
            </a:r>
            <a:endParaRPr lang="en-US" sz="1400" dirty="0"/>
          </a:p>
        </p:txBody>
      </p:sp>
      <p:sp>
        <p:nvSpPr>
          <p:cNvPr id="25" name="card"/>
          <p:cNvSpPr/>
          <p:nvPr/>
        </p:nvSpPr>
        <p:spPr>
          <a:xfrm>
            <a:off x="8046720" y="3017520"/>
            <a:ext cx="3593592" cy="2286000"/>
          </a:xfrm>
          <a:prstGeom prst="rect">
            <a:avLst/>
          </a:prstGeom>
          <a:solidFill>
            <a:srgbClr val="E0F4F3"/>
          </a:solidFill>
          <a:ln/>
        </p:spPr>
      </p:sp>
      <p:sp>
        <p:nvSpPr>
          <p:cNvPr id="26" name="Text 24"/>
          <p:cNvSpPr txBox="1"/>
          <p:nvPr/>
        </p:nvSpPr>
        <p:spPr>
          <a:xfrm>
            <a:off x="8229600" y="3108960"/>
            <a:ext cx="3200400" cy="320040"/>
          </a:xfrm>
          <a:prstGeom prst="rect">
            <a:avLst/>
          </a:prstGeom>
          <a:noFill/>
          <a:ln/>
        </p:spPr>
        <p:txBody>
          <a:bodyPr wrap="square" lIns="0" tIns="0" rIns="0" bIns="0" rtlCol="0" anchor="t"/>
          <a:lstStyle/>
          <a:p>
            <a:pPr marL="0" indent="0">
              <a:buNone/>
            </a:pPr>
            <a:r>
              <a:rPr lang="en-US" sz="1600" b="1" dirty="0">
                <a:solidFill>
                  <a:srgbClr val="0B2545"/>
                </a:solidFill>
              </a:rPr>
              <a:t>Parameter selection</a:t>
            </a:r>
            <a:endParaRPr lang="en-US" sz="1600" dirty="0"/>
          </a:p>
        </p:txBody>
      </p:sp>
      <p:sp>
        <p:nvSpPr>
          <p:cNvPr id="27" name="Text 25"/>
          <p:cNvSpPr txBox="1"/>
          <p:nvPr/>
        </p:nvSpPr>
        <p:spPr>
          <a:xfrm>
            <a:off x="8229600" y="3520440"/>
            <a:ext cx="3246120" cy="457200"/>
          </a:xfrm>
          <a:prstGeom prst="rect">
            <a:avLst/>
          </a:prstGeom>
          <a:noFill/>
          <a:ln/>
        </p:spPr>
        <p:txBody>
          <a:bodyPr wrap="square" lIns="0" tIns="0" rIns="0" bIns="0" rtlCol="0" anchor="t"/>
          <a:lstStyle/>
          <a:p>
            <a:pPr marL="0" indent="0">
              <a:buNone/>
            </a:pPr>
            <a:r>
              <a:rPr lang="en-US" sz="1800" b="1" dirty="0">
                <a:solidFill>
                  <a:srgbClr val="0E8C8C"/>
                </a:solidFill>
                <a:latin typeface="Cambria" pitchFamily="34" charset="0"/>
                <a:ea typeface="Cambria" pitchFamily="34" charset="-122"/>
                <a:cs typeface="Cambria" pitchFamily="34" charset="-120"/>
              </a:rPr>
              <a:t>γ, clip limit = f(B, C)</a:t>
            </a:r>
            <a:endParaRPr lang="en-US" sz="1800" dirty="0"/>
          </a:p>
        </p:txBody>
      </p:sp>
      <p:sp>
        <p:nvSpPr>
          <p:cNvPr id="28" name="Text 26"/>
          <p:cNvSpPr txBox="1"/>
          <p:nvPr/>
        </p:nvSpPr>
        <p:spPr>
          <a:xfrm>
            <a:off x="8229600" y="4114800"/>
            <a:ext cx="3246120" cy="1143000"/>
          </a:xfrm>
          <a:prstGeom prst="rect">
            <a:avLst/>
          </a:prstGeom>
          <a:noFill/>
          <a:ln/>
        </p:spPr>
        <p:txBody>
          <a:bodyPr wrap="square" lIns="0" tIns="0" rIns="0" bIns="0" rtlCol="0" anchor="t"/>
          <a:lstStyle/>
          <a:p>
            <a:pPr marL="0" indent="0">
              <a:buNone/>
            </a:pPr>
            <a:r>
              <a:rPr lang="en-US" sz="1400" dirty="0">
                <a:solidFill>
                  <a:srgbClr val="1F2937"/>
                </a:solidFill>
              </a:rPr>
              <a:t>Darker inputs get stronger brightening. The rule is a project-specific heuristic, not claimed optimal.</a:t>
            </a:r>
            <a:endParaRPr lang="en-US" sz="1400" dirty="0"/>
          </a:p>
        </p:txBody>
      </p:sp>
      <p:sp>
        <p:nvSpPr>
          <p:cNvPr id="29" name="card"/>
          <p:cNvSpPr/>
          <p:nvPr/>
        </p:nvSpPr>
        <p:spPr>
          <a:xfrm>
            <a:off x="548640" y="5532120"/>
            <a:ext cx="11091672" cy="731520"/>
          </a:xfrm>
          <a:prstGeom prst="rect">
            <a:avLst/>
          </a:prstGeom>
          <a:solidFill>
            <a:srgbClr val="0B2545"/>
          </a:solidFill>
          <a:ln/>
        </p:spPr>
      </p:sp>
      <p:sp>
        <p:nvSpPr>
          <p:cNvPr id="30" name="Text 28"/>
          <p:cNvSpPr txBox="1"/>
          <p:nvPr/>
        </p:nvSpPr>
        <p:spPr>
          <a:xfrm>
            <a:off x="777240" y="5532120"/>
            <a:ext cx="10607040" cy="731520"/>
          </a:xfrm>
          <a:prstGeom prst="rect">
            <a:avLst/>
          </a:prstGeom>
          <a:noFill/>
          <a:ln/>
        </p:spPr>
        <p:txBody>
          <a:bodyPr wrap="square" lIns="0" tIns="0" rIns="0" bIns="0" rtlCol="0" anchor="ctr"/>
          <a:lstStyle/>
          <a:p>
            <a:pPr marL="0" indent="0">
              <a:buNone/>
            </a:pPr>
            <a:r>
              <a:rPr lang="en-US" sz="1500" b="1" dirty="0">
                <a:solidFill>
                  <a:srgbClr val="7FD6D3"/>
                </a:solidFill>
              </a:rPr>
              <a:t>Baselines: </a:t>
            </a:r>
            <a:r>
              <a:rPr lang="en-US" sz="1500" dirty="0">
                <a:solidFill>
                  <a:srgbClr val="FFFFFF"/>
                </a:solidFill>
              </a:rPr>
              <a:t>fixed settings for every image.     </a:t>
            </a:r>
            <a:r>
              <a:rPr lang="en-US" sz="1500" b="1" dirty="0">
                <a:solidFill>
                  <a:srgbClr val="7FD6D3"/>
                </a:solidFill>
              </a:rPr>
              <a:t>BCGAE: </a:t>
            </a:r>
            <a:r>
              <a:rPr lang="en-US" sz="1500" dirty="0">
                <a:solidFill>
                  <a:srgbClr val="FFFFFF"/>
                </a:solidFill>
              </a:rPr>
              <a:t>gamma and clip limit chosen per image from B and C.</a:t>
            </a:r>
            <a:endParaRPr lang="en-US" sz="1500" dirty="0"/>
          </a:p>
        </p:txBody>
      </p:sp>
      <p:sp>
        <p:nvSpPr>
          <p:cNvPr id="31"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Visual Comparison: Severe Low-Light Example</a:t>
            </a:r>
            <a:endParaRPr lang="en-US" sz="3000" dirty="0"/>
          </a:p>
        </p:txBody>
      </p:sp>
      <p:pic>
        <p:nvPicPr>
          <p:cNvPr id="3" name="Original reference" descr="p/ref.jpg"/>
          <p:cNvPicPr>
            <a:picLocks noChangeAspect="1"/>
          </p:cNvPicPr>
          <p:nvPr/>
        </p:nvPicPr>
        <p:blipFill>
          <a:blip r:embed="rId3"/>
          <a:stretch>
            <a:fillRect/>
          </a:stretch>
        </p:blipFill>
        <p:spPr>
          <a:xfrm>
            <a:off x="548640" y="1234440"/>
            <a:ext cx="2606040" cy="1733017"/>
          </a:xfrm>
          <a:prstGeom prst="rect">
            <a:avLst/>
          </a:prstGeom>
        </p:spPr>
      </p:pic>
      <p:sp>
        <p:nvSpPr>
          <p:cNvPr id="4" name="Text 1"/>
          <p:cNvSpPr txBox="1"/>
          <p:nvPr/>
        </p:nvSpPr>
        <p:spPr>
          <a:xfrm>
            <a:off x="548640" y="3013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Original reference</a:t>
            </a:r>
            <a:endParaRPr lang="en-US" sz="1300" dirty="0"/>
          </a:p>
        </p:txBody>
      </p:sp>
      <p:pic>
        <p:nvPicPr>
          <p:cNvPr id="5" name="Severe low-light input" descr="p/low.jpg"/>
          <p:cNvPicPr>
            <a:picLocks noChangeAspect="1"/>
          </p:cNvPicPr>
          <p:nvPr/>
        </p:nvPicPr>
        <p:blipFill>
          <a:blip r:embed="rId4"/>
          <a:stretch>
            <a:fillRect/>
          </a:stretch>
        </p:blipFill>
        <p:spPr>
          <a:xfrm>
            <a:off x="3337560" y="1234440"/>
            <a:ext cx="2606040" cy="1733017"/>
          </a:xfrm>
          <a:prstGeom prst="rect">
            <a:avLst/>
          </a:prstGeom>
        </p:spPr>
      </p:pic>
      <p:sp>
        <p:nvSpPr>
          <p:cNvPr id="6" name="Text 2"/>
          <p:cNvSpPr txBox="1"/>
          <p:nvPr/>
        </p:nvSpPr>
        <p:spPr>
          <a:xfrm>
            <a:off x="3337560" y="3013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Severe low-light input</a:t>
            </a:r>
            <a:endParaRPr lang="en-US" sz="1300" dirty="0"/>
          </a:p>
        </p:txBody>
      </p:sp>
      <p:pic>
        <p:nvPicPr>
          <p:cNvPr id="7" name="Histogram equalization" descr="p/he.jpg"/>
          <p:cNvPicPr>
            <a:picLocks noChangeAspect="1"/>
          </p:cNvPicPr>
          <p:nvPr/>
        </p:nvPicPr>
        <p:blipFill>
          <a:blip r:embed="rId5"/>
          <a:stretch>
            <a:fillRect/>
          </a:stretch>
        </p:blipFill>
        <p:spPr>
          <a:xfrm>
            <a:off x="6126480" y="1234440"/>
            <a:ext cx="2606040" cy="1733017"/>
          </a:xfrm>
          <a:prstGeom prst="rect">
            <a:avLst/>
          </a:prstGeom>
        </p:spPr>
      </p:pic>
      <p:sp>
        <p:nvSpPr>
          <p:cNvPr id="8" name="Text 3"/>
          <p:cNvSpPr txBox="1"/>
          <p:nvPr/>
        </p:nvSpPr>
        <p:spPr>
          <a:xfrm>
            <a:off x="6126480" y="3013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Histogram equalization</a:t>
            </a:r>
            <a:endParaRPr lang="en-US" sz="1300" dirty="0"/>
          </a:p>
        </p:txBody>
      </p:sp>
      <p:pic>
        <p:nvPicPr>
          <p:cNvPr id="9" name="Gamma correction" descr="p/gamma.jpg"/>
          <p:cNvPicPr>
            <a:picLocks noChangeAspect="1"/>
          </p:cNvPicPr>
          <p:nvPr/>
        </p:nvPicPr>
        <p:blipFill>
          <a:blip r:embed="rId6"/>
          <a:stretch>
            <a:fillRect/>
          </a:stretch>
        </p:blipFill>
        <p:spPr>
          <a:xfrm>
            <a:off x="8915400" y="1234440"/>
            <a:ext cx="2606040" cy="1733017"/>
          </a:xfrm>
          <a:prstGeom prst="rect">
            <a:avLst/>
          </a:prstGeom>
        </p:spPr>
      </p:pic>
      <p:sp>
        <p:nvSpPr>
          <p:cNvPr id="10" name="Text 4"/>
          <p:cNvSpPr txBox="1"/>
          <p:nvPr/>
        </p:nvSpPr>
        <p:spPr>
          <a:xfrm>
            <a:off x="8915400" y="3013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Gamma correction</a:t>
            </a:r>
            <a:endParaRPr lang="en-US" sz="1300" dirty="0"/>
          </a:p>
        </p:txBody>
      </p:sp>
      <p:pic>
        <p:nvPicPr>
          <p:cNvPr id="11" name="CLAHE" descr="p/clahe.jpg"/>
          <p:cNvPicPr>
            <a:picLocks noChangeAspect="1"/>
          </p:cNvPicPr>
          <p:nvPr/>
        </p:nvPicPr>
        <p:blipFill>
          <a:blip r:embed="rId7"/>
          <a:stretch>
            <a:fillRect/>
          </a:stretch>
        </p:blipFill>
        <p:spPr>
          <a:xfrm>
            <a:off x="548640" y="3520440"/>
            <a:ext cx="2606040" cy="1733017"/>
          </a:xfrm>
          <a:prstGeom prst="rect">
            <a:avLst/>
          </a:prstGeom>
        </p:spPr>
      </p:pic>
      <p:sp>
        <p:nvSpPr>
          <p:cNvPr id="12" name="Text 5"/>
          <p:cNvSpPr txBox="1"/>
          <p:nvPr/>
        </p:nvSpPr>
        <p:spPr>
          <a:xfrm>
            <a:off x="548640" y="5299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CLAHE</a:t>
            </a:r>
            <a:endParaRPr lang="en-US" sz="1300" dirty="0"/>
          </a:p>
        </p:txBody>
      </p:sp>
      <p:pic>
        <p:nvPicPr>
          <p:cNvPr id="13" name="Fixed gamma + CLAHE" descr="p/gclahe.jpg"/>
          <p:cNvPicPr>
            <a:picLocks noChangeAspect="1"/>
          </p:cNvPicPr>
          <p:nvPr/>
        </p:nvPicPr>
        <p:blipFill>
          <a:blip r:embed="rId8"/>
          <a:stretch>
            <a:fillRect/>
          </a:stretch>
        </p:blipFill>
        <p:spPr>
          <a:xfrm>
            <a:off x="3337560" y="3520440"/>
            <a:ext cx="2606040" cy="1733017"/>
          </a:xfrm>
          <a:prstGeom prst="rect">
            <a:avLst/>
          </a:prstGeom>
        </p:spPr>
      </p:pic>
      <p:sp>
        <p:nvSpPr>
          <p:cNvPr id="14" name="Text 6"/>
          <p:cNvSpPr txBox="1"/>
          <p:nvPr/>
        </p:nvSpPr>
        <p:spPr>
          <a:xfrm>
            <a:off x="3337560" y="5299177"/>
            <a:ext cx="2606040" cy="274320"/>
          </a:xfrm>
          <a:prstGeom prst="rect">
            <a:avLst/>
          </a:prstGeom>
          <a:noFill/>
          <a:ln/>
        </p:spPr>
        <p:txBody>
          <a:bodyPr wrap="square" lIns="0" tIns="0" rIns="0" bIns="0" rtlCol="0" anchor="t"/>
          <a:lstStyle/>
          <a:p>
            <a:pPr marL="0" indent="0" algn="ctr">
              <a:buNone/>
            </a:pPr>
            <a:r>
              <a:rPr lang="en-US" sz="1300" b="1" dirty="0">
                <a:solidFill>
                  <a:srgbClr val="0B2545"/>
                </a:solidFill>
              </a:rPr>
              <a:t>Fixed gamma + CLAHE</a:t>
            </a:r>
            <a:endParaRPr lang="en-US" sz="1300" dirty="0"/>
          </a:p>
        </p:txBody>
      </p:sp>
      <p:pic>
        <p:nvPicPr>
          <p:cNvPr id="15" name="Proposed BCGAE" descr="p/bcgae.jpg"/>
          <p:cNvPicPr>
            <a:picLocks noChangeAspect="1"/>
          </p:cNvPicPr>
          <p:nvPr/>
        </p:nvPicPr>
        <p:blipFill>
          <a:blip r:embed="rId9"/>
          <a:stretch>
            <a:fillRect/>
          </a:stretch>
        </p:blipFill>
        <p:spPr>
          <a:xfrm>
            <a:off x="6126480" y="3520440"/>
            <a:ext cx="2606040" cy="1733017"/>
          </a:xfrm>
          <a:prstGeom prst="rect">
            <a:avLst/>
          </a:prstGeom>
        </p:spPr>
      </p:pic>
      <p:sp>
        <p:nvSpPr>
          <p:cNvPr id="16" name="Text 7"/>
          <p:cNvSpPr txBox="1"/>
          <p:nvPr/>
        </p:nvSpPr>
        <p:spPr>
          <a:xfrm>
            <a:off x="6126480" y="5299177"/>
            <a:ext cx="2606040" cy="274320"/>
          </a:xfrm>
          <a:prstGeom prst="rect">
            <a:avLst/>
          </a:prstGeom>
          <a:noFill/>
          <a:ln/>
        </p:spPr>
        <p:txBody>
          <a:bodyPr wrap="square" lIns="0" tIns="0" rIns="0" bIns="0" rtlCol="0" anchor="t"/>
          <a:lstStyle/>
          <a:p>
            <a:pPr marL="0" indent="0" algn="ctr">
              <a:buNone/>
            </a:pPr>
            <a:r>
              <a:rPr lang="en-US" sz="1300" b="1" dirty="0">
                <a:solidFill>
                  <a:srgbClr val="0E8C8C"/>
                </a:solidFill>
              </a:rPr>
              <a:t>Proposed BCGAE</a:t>
            </a:r>
            <a:endParaRPr lang="en-US" sz="1300" dirty="0"/>
          </a:p>
        </p:txBody>
      </p:sp>
      <p:sp>
        <p:nvSpPr>
          <p:cNvPr id="17" name="card"/>
          <p:cNvSpPr/>
          <p:nvPr/>
        </p:nvSpPr>
        <p:spPr>
          <a:xfrm>
            <a:off x="8915400" y="3520440"/>
            <a:ext cx="2606040" cy="2331720"/>
          </a:xfrm>
          <a:prstGeom prst="rect">
            <a:avLst/>
          </a:prstGeom>
          <a:solidFill>
            <a:srgbClr val="F1F5F9"/>
          </a:solidFill>
          <a:ln/>
        </p:spPr>
      </p:sp>
      <p:sp>
        <p:nvSpPr>
          <p:cNvPr id="18" name="Text 9"/>
          <p:cNvSpPr txBox="1"/>
          <p:nvPr/>
        </p:nvSpPr>
        <p:spPr>
          <a:xfrm>
            <a:off x="9025128" y="3566160"/>
            <a:ext cx="2423160" cy="274320"/>
          </a:xfrm>
          <a:prstGeom prst="rect">
            <a:avLst/>
          </a:prstGeom>
          <a:noFill/>
          <a:ln/>
        </p:spPr>
        <p:txBody>
          <a:bodyPr wrap="square" lIns="0" tIns="0" rIns="0" bIns="0" rtlCol="0" anchor="t"/>
          <a:lstStyle/>
          <a:p>
            <a:pPr marL="0" indent="0">
              <a:buNone/>
            </a:pPr>
            <a:r>
              <a:rPr lang="en-US" sz="1300" b="1" dirty="0">
                <a:solidFill>
                  <a:srgbClr val="0B2545"/>
                </a:solidFill>
              </a:rPr>
              <a:t>Observations (this image)</a:t>
            </a:r>
            <a:endParaRPr lang="en-US" sz="1300" dirty="0"/>
          </a:p>
        </p:txBody>
      </p:sp>
      <p:sp>
        <p:nvSpPr>
          <p:cNvPr id="19" name="Text 10"/>
          <p:cNvSpPr txBox="1"/>
          <p:nvPr/>
        </p:nvSpPr>
        <p:spPr>
          <a:xfrm>
            <a:off x="9025128" y="3858768"/>
            <a:ext cx="2404872" cy="19659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F2937"/>
                </a:solidFill>
              </a:rPr>
              <a:t>HE: high contrast; bright areas saturate</a:t>
            </a:r>
            <a:endParaRPr lang="en-US" sz="1200" dirty="0"/>
          </a:p>
          <a:p>
            <a:pPr marL="342900" indent="-342900">
              <a:spcAft>
                <a:spcPts val="300"/>
              </a:spcAft>
              <a:buSzPct val="100000"/>
              <a:buChar char="•"/>
            </a:pPr>
            <a:r>
              <a:rPr lang="en-US" sz="1200" dirty="0">
                <a:solidFill>
                  <a:srgbClr val="1F2937"/>
                </a:solidFill>
              </a:rPr>
              <a:t>Gamma, CLAHE: stay dark</a:t>
            </a:r>
            <a:endParaRPr lang="en-US" sz="1200" dirty="0"/>
          </a:p>
          <a:p>
            <a:pPr marL="342900" indent="-342900">
              <a:spcAft>
                <a:spcPts val="300"/>
              </a:spcAft>
              <a:buSzPct val="100000"/>
              <a:buChar char="•"/>
            </a:pPr>
            <a:r>
              <a:rPr lang="en-US" sz="1200" dirty="0">
                <a:solidFill>
                  <a:srgbClr val="1F2937"/>
                </a:solidFill>
              </a:rPr>
              <a:t>Fixed Gamma + CLAHE: brighter, still dim</a:t>
            </a:r>
            <a:endParaRPr lang="en-US" sz="1200" dirty="0"/>
          </a:p>
          <a:p>
            <a:pPr marL="342900" indent="-342900">
              <a:spcAft>
                <a:spcPts val="300"/>
              </a:spcAft>
              <a:buSzPct val="100000"/>
              <a:buChar char="•"/>
            </a:pPr>
            <a:r>
              <a:rPr lang="en-US" sz="1200" dirty="0">
                <a:solidFill>
                  <a:srgbClr val="1F2937"/>
                </a:solidFill>
              </a:rPr>
              <a:t>BCGAE: brightest recovery, with blocky tinted patches</a:t>
            </a:r>
            <a:endParaRPr lang="en-US" sz="1200" dirty="0"/>
          </a:p>
        </p:txBody>
      </p:sp>
      <p:sp>
        <p:nvSpPr>
          <p:cNvPr id="20" name="Text 11"/>
          <p:cNvSpPr txBox="1"/>
          <p:nvPr/>
        </p:nvSpPr>
        <p:spPr>
          <a:xfrm>
            <a:off x="548640" y="5943600"/>
            <a:ext cx="11064240" cy="411480"/>
          </a:xfrm>
          <a:prstGeom prst="rect">
            <a:avLst/>
          </a:prstGeom>
          <a:noFill/>
          <a:ln/>
        </p:spPr>
        <p:txBody>
          <a:bodyPr wrap="square" lIns="0" tIns="0" rIns="0" bIns="0" rtlCol="0" anchor="t"/>
          <a:lstStyle/>
          <a:p>
            <a:pPr marL="0" indent="0">
              <a:buNone/>
            </a:pPr>
            <a:r>
              <a:rPr lang="en-US" sz="1200" dirty="0">
                <a:solidFill>
                  <a:srgbClr val="5B6573"/>
                </a:solidFill>
              </a:rPr>
              <a:t>IMG10_Sunflower, Severe level. A single example from the 10-image evaluation set; visual impression and similarity to the reference can disagree.</a:t>
            </a:r>
            <a:endParaRPr lang="en-US" sz="12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Results I: Reference-Based Metrics (Mean of 10 Images)</a:t>
            </a:r>
            <a:endParaRPr lang="en-US" sz="3000" dirty="0"/>
          </a:p>
        </p:txBody>
      </p:sp>
      <p:graphicFrame>
        <p:nvGraphicFramePr>
          <p:cNvPr id="3" name="MSE (lower is better ↓)"/>
          <p:cNvGraphicFramePr/>
          <p:nvPr/>
        </p:nvGraphicFramePr>
        <p:xfrm>
          <a:off x="548640" y="1188720"/>
          <a:ext cx="3611880" cy="3794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PSNR (higher is better ↑)"/>
          <p:cNvGraphicFramePr/>
          <p:nvPr/>
        </p:nvGraphicFramePr>
        <p:xfrm>
          <a:off x="4297680" y="1188720"/>
          <a:ext cx="3611880" cy="3794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SSIM (higher is better ↑)"/>
          <p:cNvGraphicFramePr/>
          <p:nvPr/>
        </p:nvGraphicFramePr>
        <p:xfrm>
          <a:off x="8046720" y="1188720"/>
          <a:ext cx="3611880" cy="379476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1"/>
          <p:cNvSpPr txBox="1"/>
          <p:nvPr/>
        </p:nvSpPr>
        <p:spPr>
          <a:xfrm>
            <a:off x="54864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MSE: mean squared pixel difference from the clean reference.</a:t>
            </a:r>
            <a:endParaRPr lang="en-US" sz="1200" dirty="0"/>
          </a:p>
        </p:txBody>
      </p:sp>
      <p:sp>
        <p:nvSpPr>
          <p:cNvPr id="7" name="Text 2"/>
          <p:cNvSpPr txBox="1"/>
          <p:nvPr/>
        </p:nvSpPr>
        <p:spPr>
          <a:xfrm>
            <a:off x="429768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PSNR: pixel-level fidelity to the reference, in dB.</a:t>
            </a:r>
            <a:endParaRPr lang="en-US" sz="1200" dirty="0"/>
          </a:p>
        </p:txBody>
      </p:sp>
      <p:sp>
        <p:nvSpPr>
          <p:cNvPr id="8" name="Text 3"/>
          <p:cNvSpPr txBox="1"/>
          <p:nvPr/>
        </p:nvSpPr>
        <p:spPr>
          <a:xfrm>
            <a:off x="804672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SSIM: structural similarity to the reference; 1 means identical.</a:t>
            </a:r>
            <a:endParaRPr lang="en-US" sz="1200" dirty="0"/>
          </a:p>
        </p:txBody>
      </p:sp>
      <p:sp>
        <p:nvSpPr>
          <p:cNvPr id="9" name="legend swatch"/>
          <p:cNvSpPr/>
          <p:nvPr/>
        </p:nvSpPr>
        <p:spPr>
          <a:xfrm>
            <a:off x="548640" y="5870448"/>
            <a:ext cx="182880" cy="182880"/>
          </a:xfrm>
          <a:prstGeom prst="rect">
            <a:avLst/>
          </a:prstGeom>
          <a:solidFill>
            <a:srgbClr val="E0A458"/>
          </a:solidFill>
          <a:ln/>
        </p:spPr>
      </p:sp>
      <p:sp>
        <p:nvSpPr>
          <p:cNvPr id="10" name="Text 5"/>
          <p:cNvSpPr txBox="1"/>
          <p:nvPr/>
        </p:nvSpPr>
        <p:spPr>
          <a:xfrm>
            <a:off x="804672" y="5806440"/>
            <a:ext cx="2148840" cy="310896"/>
          </a:xfrm>
          <a:prstGeom prst="rect">
            <a:avLst/>
          </a:prstGeom>
          <a:noFill/>
          <a:ln/>
        </p:spPr>
        <p:txBody>
          <a:bodyPr wrap="square" lIns="0" tIns="0" rIns="0" bIns="0" rtlCol="0" anchor="ctr"/>
          <a:lstStyle/>
          <a:p>
            <a:pPr marL="0" indent="0">
              <a:buNone/>
            </a:pPr>
            <a:r>
              <a:rPr lang="en-US" sz="1300" dirty="0">
                <a:solidFill>
                  <a:srgbClr val="1F2937"/>
                </a:solidFill>
              </a:rPr>
              <a:t>Histogram Equalization</a:t>
            </a:r>
            <a:endParaRPr lang="en-US" sz="1300" dirty="0"/>
          </a:p>
        </p:txBody>
      </p:sp>
      <p:sp>
        <p:nvSpPr>
          <p:cNvPr id="11" name="legend swatch"/>
          <p:cNvSpPr/>
          <p:nvPr/>
        </p:nvSpPr>
        <p:spPr>
          <a:xfrm>
            <a:off x="3044952" y="5870448"/>
            <a:ext cx="182880" cy="182880"/>
          </a:xfrm>
          <a:prstGeom prst="rect">
            <a:avLst/>
          </a:prstGeom>
          <a:solidFill>
            <a:srgbClr val="A8B3C4"/>
          </a:solidFill>
          <a:ln/>
        </p:spPr>
      </p:sp>
      <p:sp>
        <p:nvSpPr>
          <p:cNvPr id="12" name="Text 7"/>
          <p:cNvSpPr txBox="1"/>
          <p:nvPr/>
        </p:nvSpPr>
        <p:spPr>
          <a:xfrm>
            <a:off x="3300984" y="5806440"/>
            <a:ext cx="2011680" cy="310896"/>
          </a:xfrm>
          <a:prstGeom prst="rect">
            <a:avLst/>
          </a:prstGeom>
          <a:noFill/>
          <a:ln/>
        </p:spPr>
        <p:txBody>
          <a:bodyPr wrap="square" lIns="0" tIns="0" rIns="0" bIns="0" rtlCol="0" anchor="ctr"/>
          <a:lstStyle/>
          <a:p>
            <a:pPr marL="0" indent="0">
              <a:buNone/>
            </a:pPr>
            <a:r>
              <a:rPr lang="en-US" sz="1300" dirty="0">
                <a:solidFill>
                  <a:srgbClr val="1F2937"/>
                </a:solidFill>
              </a:rPr>
              <a:t>Gamma Correction</a:t>
            </a:r>
            <a:endParaRPr lang="en-US" sz="1300" dirty="0"/>
          </a:p>
        </p:txBody>
      </p:sp>
      <p:sp>
        <p:nvSpPr>
          <p:cNvPr id="13" name="legend swatch"/>
          <p:cNvSpPr/>
          <p:nvPr/>
        </p:nvSpPr>
        <p:spPr>
          <a:xfrm>
            <a:off x="5404104" y="5870448"/>
            <a:ext cx="182880" cy="182880"/>
          </a:xfrm>
          <a:prstGeom prst="rect">
            <a:avLst/>
          </a:prstGeom>
          <a:solidFill>
            <a:srgbClr val="5B6573"/>
          </a:solidFill>
          <a:ln/>
        </p:spPr>
      </p:sp>
      <p:sp>
        <p:nvSpPr>
          <p:cNvPr id="14" name="Text 9"/>
          <p:cNvSpPr txBox="1"/>
          <p:nvPr/>
        </p:nvSpPr>
        <p:spPr>
          <a:xfrm>
            <a:off x="5660136" y="5806440"/>
            <a:ext cx="1051560" cy="310896"/>
          </a:xfrm>
          <a:prstGeom prst="rect">
            <a:avLst/>
          </a:prstGeom>
          <a:noFill/>
          <a:ln/>
        </p:spPr>
        <p:txBody>
          <a:bodyPr wrap="square" lIns="0" tIns="0" rIns="0" bIns="0" rtlCol="0" anchor="ctr"/>
          <a:lstStyle/>
          <a:p>
            <a:pPr marL="0" indent="0">
              <a:buNone/>
            </a:pPr>
            <a:r>
              <a:rPr lang="en-US" sz="1300" dirty="0">
                <a:solidFill>
                  <a:srgbClr val="1F2937"/>
                </a:solidFill>
              </a:rPr>
              <a:t>CLAHE</a:t>
            </a:r>
            <a:endParaRPr lang="en-US" sz="1300" dirty="0"/>
          </a:p>
        </p:txBody>
      </p:sp>
      <p:sp>
        <p:nvSpPr>
          <p:cNvPr id="15" name="legend swatch"/>
          <p:cNvSpPr/>
          <p:nvPr/>
        </p:nvSpPr>
        <p:spPr>
          <a:xfrm>
            <a:off x="6803136" y="5870448"/>
            <a:ext cx="182880" cy="182880"/>
          </a:xfrm>
          <a:prstGeom prst="rect">
            <a:avLst/>
          </a:prstGeom>
          <a:solidFill>
            <a:srgbClr val="0B2545"/>
          </a:solidFill>
          <a:ln/>
        </p:spPr>
      </p:sp>
      <p:sp>
        <p:nvSpPr>
          <p:cNvPr id="16" name="Text 11"/>
          <p:cNvSpPr txBox="1"/>
          <p:nvPr/>
        </p:nvSpPr>
        <p:spPr>
          <a:xfrm>
            <a:off x="7059168" y="5806440"/>
            <a:ext cx="2103120" cy="310896"/>
          </a:xfrm>
          <a:prstGeom prst="rect">
            <a:avLst/>
          </a:prstGeom>
          <a:noFill/>
          <a:ln/>
        </p:spPr>
        <p:txBody>
          <a:bodyPr wrap="square" lIns="0" tIns="0" rIns="0" bIns="0" rtlCol="0" anchor="ctr"/>
          <a:lstStyle/>
          <a:p>
            <a:pPr marL="0" indent="0">
              <a:buNone/>
            </a:pPr>
            <a:r>
              <a:rPr lang="en-US" sz="1300" dirty="0">
                <a:solidFill>
                  <a:srgbClr val="1F2937"/>
                </a:solidFill>
              </a:rPr>
              <a:t>Fixed Gamma + CLAHE</a:t>
            </a:r>
            <a:endParaRPr lang="en-US" sz="1300" dirty="0"/>
          </a:p>
        </p:txBody>
      </p:sp>
      <p:sp>
        <p:nvSpPr>
          <p:cNvPr id="17" name="legend swatch"/>
          <p:cNvSpPr/>
          <p:nvPr/>
        </p:nvSpPr>
        <p:spPr>
          <a:xfrm>
            <a:off x="9253728" y="5870448"/>
            <a:ext cx="182880" cy="182880"/>
          </a:xfrm>
          <a:prstGeom prst="rect">
            <a:avLst/>
          </a:prstGeom>
          <a:solidFill>
            <a:srgbClr val="0E8C8C"/>
          </a:solidFill>
          <a:ln/>
        </p:spPr>
      </p:sp>
      <p:sp>
        <p:nvSpPr>
          <p:cNvPr id="18" name="Text 13"/>
          <p:cNvSpPr txBox="1"/>
          <p:nvPr/>
        </p:nvSpPr>
        <p:spPr>
          <a:xfrm>
            <a:off x="9509760" y="5806440"/>
            <a:ext cx="2011680" cy="310896"/>
          </a:xfrm>
          <a:prstGeom prst="rect">
            <a:avLst/>
          </a:prstGeom>
          <a:noFill/>
          <a:ln/>
        </p:spPr>
        <p:txBody>
          <a:bodyPr wrap="square" lIns="0" tIns="0" rIns="0" bIns="0" rtlCol="0" anchor="ctr"/>
          <a:lstStyle/>
          <a:p>
            <a:pPr marL="0" indent="0">
              <a:buNone/>
            </a:pPr>
            <a:r>
              <a:rPr lang="en-US" sz="1300" b="1" dirty="0">
                <a:solidFill>
                  <a:srgbClr val="0E8C8C"/>
                </a:solidFill>
              </a:rPr>
              <a:t>Proposed BCGAE</a:t>
            </a:r>
            <a:endParaRPr lang="en-US" sz="13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Results II: Entropy, Contrast and Runtime</a:t>
            </a:r>
            <a:endParaRPr lang="en-US" sz="3000" dirty="0"/>
          </a:p>
        </p:txBody>
      </p:sp>
      <p:graphicFrame>
        <p:nvGraphicFramePr>
          <p:cNvPr id="3" name="Entropy (descriptive)"/>
          <p:cNvGraphicFramePr/>
          <p:nvPr/>
        </p:nvGraphicFramePr>
        <p:xfrm>
          <a:off x="548640" y="1188720"/>
          <a:ext cx="3611880" cy="3794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ontrast (descriptive)"/>
          <p:cNvGraphicFramePr/>
          <p:nvPr/>
        </p:nvGraphicFramePr>
        <p:xfrm>
          <a:off x="4297680" y="1188720"/>
          <a:ext cx="3611880" cy="3794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Runtime chart"/>
          <p:cNvGraphicFramePr/>
          <p:nvPr/>
        </p:nvGraphicFramePr>
        <p:xfrm>
          <a:off x="8046720" y="1188720"/>
          <a:ext cx="3611880" cy="379476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 1"/>
          <p:cNvSpPr txBox="1"/>
          <p:nvPr/>
        </p:nvSpPr>
        <p:spPr>
          <a:xfrm>
            <a:off x="54864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Entropy: spread of intensity information. Higher is not always better.</a:t>
            </a:r>
            <a:endParaRPr lang="en-US" sz="1200" dirty="0"/>
          </a:p>
        </p:txBody>
      </p:sp>
      <p:sp>
        <p:nvSpPr>
          <p:cNvPr id="7" name="Text 2"/>
          <p:cNvSpPr txBox="1"/>
          <p:nvPr/>
        </p:nvSpPr>
        <p:spPr>
          <a:xfrm>
            <a:off x="429768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Contrast: luminance standard deviation. Higher is not always better.</a:t>
            </a:r>
            <a:endParaRPr lang="en-US" sz="1200" dirty="0"/>
          </a:p>
        </p:txBody>
      </p:sp>
      <p:sp>
        <p:nvSpPr>
          <p:cNvPr id="8" name="Text 3"/>
          <p:cNvSpPr txBox="1"/>
          <p:nvPr/>
        </p:nvSpPr>
        <p:spPr>
          <a:xfrm>
            <a:off x="8046720" y="5074920"/>
            <a:ext cx="3611880" cy="548640"/>
          </a:xfrm>
          <a:prstGeom prst="rect">
            <a:avLst/>
          </a:prstGeom>
          <a:noFill/>
          <a:ln/>
        </p:spPr>
        <p:txBody>
          <a:bodyPr wrap="square" lIns="0" tIns="0" rIns="0" bIns="0" rtlCol="0" anchor="t"/>
          <a:lstStyle/>
          <a:p>
            <a:pPr marL="0" indent="0">
              <a:buNone/>
            </a:pPr>
            <a:r>
              <a:rPr lang="en-US" sz="1200" dirty="0">
                <a:solidFill>
                  <a:srgbClr val="5B6573"/>
                </a:solidFill>
              </a:rPr>
              <a:t>Measured runtime depends on hardware and software environment.</a:t>
            </a:r>
            <a:endParaRPr lang="en-US" sz="1200" dirty="0"/>
          </a:p>
        </p:txBody>
      </p:sp>
      <p:sp>
        <p:nvSpPr>
          <p:cNvPr id="9" name="legend swatch"/>
          <p:cNvSpPr/>
          <p:nvPr/>
        </p:nvSpPr>
        <p:spPr>
          <a:xfrm>
            <a:off x="548640" y="5870448"/>
            <a:ext cx="182880" cy="182880"/>
          </a:xfrm>
          <a:prstGeom prst="rect">
            <a:avLst/>
          </a:prstGeom>
          <a:solidFill>
            <a:srgbClr val="E0A458"/>
          </a:solidFill>
          <a:ln/>
        </p:spPr>
      </p:sp>
      <p:sp>
        <p:nvSpPr>
          <p:cNvPr id="10" name="Text 5"/>
          <p:cNvSpPr txBox="1"/>
          <p:nvPr/>
        </p:nvSpPr>
        <p:spPr>
          <a:xfrm>
            <a:off x="804672" y="5806440"/>
            <a:ext cx="2148840" cy="310896"/>
          </a:xfrm>
          <a:prstGeom prst="rect">
            <a:avLst/>
          </a:prstGeom>
          <a:noFill/>
          <a:ln/>
        </p:spPr>
        <p:txBody>
          <a:bodyPr wrap="square" lIns="0" tIns="0" rIns="0" bIns="0" rtlCol="0" anchor="ctr"/>
          <a:lstStyle/>
          <a:p>
            <a:pPr marL="0" indent="0">
              <a:buNone/>
            </a:pPr>
            <a:r>
              <a:rPr lang="en-US" sz="1300" dirty="0">
                <a:solidFill>
                  <a:srgbClr val="1F2937"/>
                </a:solidFill>
              </a:rPr>
              <a:t>Histogram Equalization</a:t>
            </a:r>
            <a:endParaRPr lang="en-US" sz="1300" dirty="0"/>
          </a:p>
        </p:txBody>
      </p:sp>
      <p:sp>
        <p:nvSpPr>
          <p:cNvPr id="11" name="legend swatch"/>
          <p:cNvSpPr/>
          <p:nvPr/>
        </p:nvSpPr>
        <p:spPr>
          <a:xfrm>
            <a:off x="3044952" y="5870448"/>
            <a:ext cx="182880" cy="182880"/>
          </a:xfrm>
          <a:prstGeom prst="rect">
            <a:avLst/>
          </a:prstGeom>
          <a:solidFill>
            <a:srgbClr val="A8B3C4"/>
          </a:solidFill>
          <a:ln/>
        </p:spPr>
      </p:sp>
      <p:sp>
        <p:nvSpPr>
          <p:cNvPr id="12" name="Text 7"/>
          <p:cNvSpPr txBox="1"/>
          <p:nvPr/>
        </p:nvSpPr>
        <p:spPr>
          <a:xfrm>
            <a:off x="3300984" y="5806440"/>
            <a:ext cx="2011680" cy="310896"/>
          </a:xfrm>
          <a:prstGeom prst="rect">
            <a:avLst/>
          </a:prstGeom>
          <a:noFill/>
          <a:ln/>
        </p:spPr>
        <p:txBody>
          <a:bodyPr wrap="square" lIns="0" tIns="0" rIns="0" bIns="0" rtlCol="0" anchor="ctr"/>
          <a:lstStyle/>
          <a:p>
            <a:pPr marL="0" indent="0">
              <a:buNone/>
            </a:pPr>
            <a:r>
              <a:rPr lang="en-US" sz="1300" dirty="0">
                <a:solidFill>
                  <a:srgbClr val="1F2937"/>
                </a:solidFill>
              </a:rPr>
              <a:t>Gamma Correction</a:t>
            </a:r>
            <a:endParaRPr lang="en-US" sz="1300" dirty="0"/>
          </a:p>
        </p:txBody>
      </p:sp>
      <p:sp>
        <p:nvSpPr>
          <p:cNvPr id="13" name="legend swatch"/>
          <p:cNvSpPr/>
          <p:nvPr/>
        </p:nvSpPr>
        <p:spPr>
          <a:xfrm>
            <a:off x="5404104" y="5870448"/>
            <a:ext cx="182880" cy="182880"/>
          </a:xfrm>
          <a:prstGeom prst="rect">
            <a:avLst/>
          </a:prstGeom>
          <a:solidFill>
            <a:srgbClr val="5B6573"/>
          </a:solidFill>
          <a:ln/>
        </p:spPr>
      </p:sp>
      <p:sp>
        <p:nvSpPr>
          <p:cNvPr id="14" name="Text 9"/>
          <p:cNvSpPr txBox="1"/>
          <p:nvPr/>
        </p:nvSpPr>
        <p:spPr>
          <a:xfrm>
            <a:off x="5660136" y="5806440"/>
            <a:ext cx="1051560" cy="310896"/>
          </a:xfrm>
          <a:prstGeom prst="rect">
            <a:avLst/>
          </a:prstGeom>
          <a:noFill/>
          <a:ln/>
        </p:spPr>
        <p:txBody>
          <a:bodyPr wrap="square" lIns="0" tIns="0" rIns="0" bIns="0" rtlCol="0" anchor="ctr"/>
          <a:lstStyle/>
          <a:p>
            <a:pPr marL="0" indent="0">
              <a:buNone/>
            </a:pPr>
            <a:r>
              <a:rPr lang="en-US" sz="1300" dirty="0">
                <a:solidFill>
                  <a:srgbClr val="1F2937"/>
                </a:solidFill>
              </a:rPr>
              <a:t>CLAHE</a:t>
            </a:r>
            <a:endParaRPr lang="en-US" sz="1300" dirty="0"/>
          </a:p>
        </p:txBody>
      </p:sp>
      <p:sp>
        <p:nvSpPr>
          <p:cNvPr id="15" name="legend swatch"/>
          <p:cNvSpPr/>
          <p:nvPr/>
        </p:nvSpPr>
        <p:spPr>
          <a:xfrm>
            <a:off x="6803136" y="5870448"/>
            <a:ext cx="182880" cy="182880"/>
          </a:xfrm>
          <a:prstGeom prst="rect">
            <a:avLst/>
          </a:prstGeom>
          <a:solidFill>
            <a:srgbClr val="0B2545"/>
          </a:solidFill>
          <a:ln/>
        </p:spPr>
      </p:sp>
      <p:sp>
        <p:nvSpPr>
          <p:cNvPr id="16" name="Text 11"/>
          <p:cNvSpPr txBox="1"/>
          <p:nvPr/>
        </p:nvSpPr>
        <p:spPr>
          <a:xfrm>
            <a:off x="7059168" y="5806440"/>
            <a:ext cx="2103120" cy="310896"/>
          </a:xfrm>
          <a:prstGeom prst="rect">
            <a:avLst/>
          </a:prstGeom>
          <a:noFill/>
          <a:ln/>
        </p:spPr>
        <p:txBody>
          <a:bodyPr wrap="square" lIns="0" tIns="0" rIns="0" bIns="0" rtlCol="0" anchor="ctr"/>
          <a:lstStyle/>
          <a:p>
            <a:pPr marL="0" indent="0">
              <a:buNone/>
            </a:pPr>
            <a:r>
              <a:rPr lang="en-US" sz="1300" dirty="0">
                <a:solidFill>
                  <a:srgbClr val="1F2937"/>
                </a:solidFill>
              </a:rPr>
              <a:t>Fixed Gamma + CLAHE</a:t>
            </a:r>
            <a:endParaRPr lang="en-US" sz="1300" dirty="0"/>
          </a:p>
        </p:txBody>
      </p:sp>
      <p:sp>
        <p:nvSpPr>
          <p:cNvPr id="17" name="legend swatch"/>
          <p:cNvSpPr/>
          <p:nvPr/>
        </p:nvSpPr>
        <p:spPr>
          <a:xfrm>
            <a:off x="9253728" y="5870448"/>
            <a:ext cx="182880" cy="182880"/>
          </a:xfrm>
          <a:prstGeom prst="rect">
            <a:avLst/>
          </a:prstGeom>
          <a:solidFill>
            <a:srgbClr val="0E8C8C"/>
          </a:solidFill>
          <a:ln/>
        </p:spPr>
      </p:sp>
      <p:sp>
        <p:nvSpPr>
          <p:cNvPr id="18" name="Text 13"/>
          <p:cNvSpPr txBox="1"/>
          <p:nvPr/>
        </p:nvSpPr>
        <p:spPr>
          <a:xfrm>
            <a:off x="9509760" y="5806440"/>
            <a:ext cx="2011680" cy="310896"/>
          </a:xfrm>
          <a:prstGeom prst="rect">
            <a:avLst/>
          </a:prstGeom>
          <a:noFill/>
          <a:ln/>
        </p:spPr>
        <p:txBody>
          <a:bodyPr wrap="square" lIns="0" tIns="0" rIns="0" bIns="0" rtlCol="0" anchor="ctr"/>
          <a:lstStyle/>
          <a:p>
            <a:pPr marL="0" indent="0">
              <a:buNone/>
            </a:pPr>
            <a:r>
              <a:rPr lang="en-US" sz="1300" b="1" dirty="0">
                <a:solidFill>
                  <a:srgbClr val="0E8C8C"/>
                </a:solidFill>
              </a:rPr>
              <a:t>Proposed BCGAE</a:t>
            </a:r>
            <a:endParaRPr lang="en-US" sz="13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Quantitative Summary</a:t>
            </a:r>
            <a:endParaRPr lang="en-US" sz="3000" dirty="0"/>
          </a:p>
        </p:txBody>
      </p:sp>
      <p:graphicFrame>
        <p:nvGraphicFramePr>
          <p:cNvPr id="12" name="Summary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1942" cy="2487168"/>
        </p:xfrm>
        <a:graphic>
          <a:graphicData uri="http://schemas.openxmlformats.org/drawingml/2006/table">
            <a:tbl>
              <a:tblPr/>
              <a:tblGrid>
                <a:gridCol w="2148840">
                  <a:extLst>
                    <a:ext uri="{9D8B030D-6E8A-4147-A177-3AD203B41FA5}">
                      <a16:colId xmlns:a16="http://schemas.microsoft.com/office/drawing/2014/main" val="20000"/>
                    </a:ext>
                  </a:extLst>
                </a:gridCol>
                <a:gridCol w="993678">
                  <a:extLst>
                    <a:ext uri="{9D8B030D-6E8A-4147-A177-3AD203B41FA5}">
                      <a16:colId xmlns:a16="http://schemas.microsoft.com/office/drawing/2014/main" val="20001"/>
                    </a:ext>
                  </a:extLst>
                </a:gridCol>
                <a:gridCol w="993678">
                  <a:extLst>
                    <a:ext uri="{9D8B030D-6E8A-4147-A177-3AD203B41FA5}">
                      <a16:colId xmlns:a16="http://schemas.microsoft.com/office/drawing/2014/main" val="20002"/>
                    </a:ext>
                  </a:extLst>
                </a:gridCol>
                <a:gridCol w="993678">
                  <a:extLst>
                    <a:ext uri="{9D8B030D-6E8A-4147-A177-3AD203B41FA5}">
                      <a16:colId xmlns:a16="http://schemas.microsoft.com/office/drawing/2014/main" val="20003"/>
                    </a:ext>
                  </a:extLst>
                </a:gridCol>
                <a:gridCol w="993678">
                  <a:extLst>
                    <a:ext uri="{9D8B030D-6E8A-4147-A177-3AD203B41FA5}">
                      <a16:colId xmlns:a16="http://schemas.microsoft.com/office/drawing/2014/main" val="20004"/>
                    </a:ext>
                  </a:extLst>
                </a:gridCol>
                <a:gridCol w="993678">
                  <a:extLst>
                    <a:ext uri="{9D8B030D-6E8A-4147-A177-3AD203B41FA5}">
                      <a16:colId xmlns:a16="http://schemas.microsoft.com/office/drawing/2014/main" val="20005"/>
                    </a:ext>
                  </a:extLst>
                </a:gridCol>
                <a:gridCol w="993678">
                  <a:extLst>
                    <a:ext uri="{9D8B030D-6E8A-4147-A177-3AD203B41FA5}">
                      <a16:colId xmlns:a16="http://schemas.microsoft.com/office/drawing/2014/main" val="20006"/>
                    </a:ext>
                  </a:extLst>
                </a:gridCol>
                <a:gridCol w="993678">
                  <a:extLst>
                    <a:ext uri="{9D8B030D-6E8A-4147-A177-3AD203B41FA5}">
                      <a16:colId xmlns:a16="http://schemas.microsoft.com/office/drawing/2014/main" val="20007"/>
                    </a:ext>
                  </a:extLst>
                </a:gridCol>
                <a:gridCol w="993678">
                  <a:extLst>
                    <a:ext uri="{9D8B030D-6E8A-4147-A177-3AD203B41FA5}">
                      <a16:colId xmlns:a16="http://schemas.microsoft.com/office/drawing/2014/main" val="20008"/>
                    </a:ext>
                  </a:extLst>
                </a:gridCol>
                <a:gridCol w="993678">
                  <a:extLst>
                    <a:ext uri="{9D8B030D-6E8A-4147-A177-3AD203B41FA5}">
                      <a16:colId xmlns:a16="http://schemas.microsoft.com/office/drawing/2014/main" val="20009"/>
                    </a:ext>
                  </a:extLst>
                </a:gridCol>
              </a:tblGrid>
              <a:tr h="347472">
                <a:tc rowSpan="2">
                  <a:txBody>
                    <a:bodyPr/>
                    <a:lstStyle/>
                    <a:p>
                      <a:pPr marL="0" indent="0" algn="l">
                        <a:buNone/>
                      </a:pPr>
                      <a:r>
                        <a:rPr lang="en-US" sz="1300" b="1" dirty="0">
                          <a:solidFill>
                            <a:srgbClr val="FFFFFF"/>
                          </a:solidFill>
                        </a:rPr>
                        <a:t>Method</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gridSpan="3">
                  <a:txBody>
                    <a:bodyPr/>
                    <a:lstStyle/>
                    <a:p>
                      <a:pPr marL="0" indent="0" algn="ctr">
                        <a:buNone/>
                      </a:pPr>
                      <a:r>
                        <a:rPr lang="en-US" sz="1300" b="1" dirty="0">
                          <a:solidFill>
                            <a:srgbClr val="FFFFFF"/>
                          </a:solidFill>
                        </a:rPr>
                        <a:t>MSE ↓</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hMerge="1">
                  <a:txBody>
                    <a:bodyPr/>
                    <a:lstStyle/>
                    <a:p>
                      <a:endParaRPr lang="en-US"/>
                    </a:p>
                  </a:txBody>
                  <a:tcPr/>
                </a:tc>
                <a:tc hMerge="1">
                  <a:txBody>
                    <a:bodyPr/>
                    <a:lstStyle/>
                    <a:p>
                      <a:endParaRPr lang="en-US"/>
                    </a:p>
                  </a:txBody>
                  <a:tcPr/>
                </a:tc>
                <a:tc gridSpan="3">
                  <a:txBody>
                    <a:bodyPr/>
                    <a:lstStyle/>
                    <a:p>
                      <a:pPr marL="0" indent="0" algn="ctr">
                        <a:buNone/>
                      </a:pPr>
                      <a:r>
                        <a:rPr lang="en-US" sz="1300" b="1" dirty="0">
                          <a:solidFill>
                            <a:srgbClr val="FFFFFF"/>
                          </a:solidFill>
                        </a:rPr>
                        <a:t>PSNR (dB) ↑</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hMerge="1">
                  <a:txBody>
                    <a:bodyPr/>
                    <a:lstStyle/>
                    <a:p>
                      <a:endParaRPr lang="en-US"/>
                    </a:p>
                  </a:txBody>
                  <a:tcPr/>
                </a:tc>
                <a:tc hMerge="1">
                  <a:txBody>
                    <a:bodyPr/>
                    <a:lstStyle/>
                    <a:p>
                      <a:endParaRPr lang="en-US"/>
                    </a:p>
                  </a:txBody>
                  <a:tcPr/>
                </a:tc>
                <a:tc gridSpan="3">
                  <a:txBody>
                    <a:bodyPr/>
                    <a:lstStyle/>
                    <a:p>
                      <a:pPr marL="0" indent="0" algn="ctr">
                        <a:buNone/>
                      </a:pPr>
                      <a:r>
                        <a:rPr lang="en-US" sz="1300" b="1" dirty="0">
                          <a:solidFill>
                            <a:srgbClr val="FFFFFF"/>
                          </a:solidFill>
                        </a:rPr>
                        <a:t>SSIM ↑</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10896">
                <a:tc vMerge="1">
                  <a:txBody>
                    <a:bodyPr/>
                    <a:lstStyle/>
                    <a:p>
                      <a:endParaRPr lang="en-US"/>
                    </a:p>
                  </a:txBody>
                  <a:tcPr/>
                </a:tc>
                <a:tc>
                  <a:txBody>
                    <a:bodyPr/>
                    <a:lstStyle/>
                    <a:p>
                      <a:pPr marL="0" indent="0" algn="ctr">
                        <a:buNone/>
                      </a:pPr>
                      <a:r>
                        <a:rPr lang="en-US" sz="1200" b="1" dirty="0">
                          <a:solidFill>
                            <a:srgbClr val="FFFFFF"/>
                          </a:solidFill>
                        </a:rPr>
                        <a:t>Mild</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Moderate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Severe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Mild</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Moderate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Severe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Mild</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Moderate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tc>
                  <a:txBody>
                    <a:bodyPr/>
                    <a:lstStyle/>
                    <a:p>
                      <a:pPr marL="0" indent="0" algn="ctr">
                        <a:buNone/>
                      </a:pPr>
                      <a:r>
                        <a:rPr lang="en-US" sz="1200" b="1" dirty="0">
                          <a:solidFill>
                            <a:srgbClr val="FFFFFF"/>
                          </a:solidFill>
                        </a:rPr>
                        <a:t>Severe</a:t>
                      </a:r>
                      <a:endParaRPr lang="en-US" sz="12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7415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F2937"/>
                          </a:solidFill>
                        </a:rPr>
                        <a:t>Histogram Equalization</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1246.1</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1330.9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1704.6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18.31</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18.13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b="1" dirty="0">
                          <a:solidFill>
                            <a:srgbClr val="0E8C8C"/>
                          </a:solidFill>
                        </a:rPr>
                        <a:t>17.30</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0.840</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0.819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0.736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1F2937"/>
                          </a:solidFill>
                        </a:rPr>
                        <a:t>Gamma Correction</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985.1</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3903.4</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8184.6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18.83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12.65</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9.33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0.903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0.739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0.459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1F2937"/>
                          </a:solidFill>
                        </a:rPr>
                        <a:t>CLAHE</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1865.8</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5830.9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11137.4</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16.53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10.92</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7.97</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0.912</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0.656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0.279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1F2937"/>
                          </a:solidFill>
                        </a:rPr>
                        <a:t>Fixed Gamma + CLAHE</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994.3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2083.1</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5333.0</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18.83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15.91</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11.47</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rPr>
                        <a:t>0.890</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C8C"/>
                          </a:solidFill>
                        </a:rPr>
                        <a:t>0.895</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0.709</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300" b="1" dirty="0">
                          <a:solidFill>
                            <a:srgbClr val="0E8C8C"/>
                          </a:solidFill>
                        </a:rPr>
                        <a:t>Proposed BCGAE</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1917.5</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1873.4</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b="1" dirty="0">
                          <a:solidFill>
                            <a:srgbClr val="0E8C8C"/>
                          </a:solidFill>
                        </a:rPr>
                        <a:t>1473.5</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tc>
                  <a:txBody>
                    <a:bodyPr/>
                    <a:lstStyle/>
                    <a:p>
                      <a:pPr marL="0" indent="0" algn="ctr">
                        <a:buNone/>
                      </a:pPr>
                      <a:r>
                        <a:rPr lang="en-US" sz="1300" dirty="0">
                          <a:solidFill>
                            <a:srgbClr val="1F2937"/>
                          </a:solidFill>
                        </a:rPr>
                        <a:t>16.04</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15.83</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17.06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0.832</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dirty="0">
                          <a:solidFill>
                            <a:srgbClr val="1F2937"/>
                          </a:solidFill>
                        </a:rPr>
                        <a:t>0.826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4F3"/>
                    </a:solidFill>
                  </a:tcPr>
                </a:tc>
                <a:tc>
                  <a:txBody>
                    <a:bodyPr/>
                    <a:lstStyle/>
                    <a:p>
                      <a:pPr marL="0" indent="0" algn="ctr">
                        <a:buNone/>
                      </a:pPr>
                      <a:r>
                        <a:rPr lang="en-US" sz="1300" b="1" dirty="0">
                          <a:solidFill>
                            <a:srgbClr val="0E8C8C"/>
                          </a:solidFill>
                        </a:rPr>
                        <a:t>0.816</a:t>
                      </a:r>
                      <a:endParaRPr lang="en-US" sz="1300" dirty="0"/>
                    </a:p>
                  </a:txBody>
                  <a:tcPr marL="45720" marR="4572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DEEEC"/>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3840480"/>
            <a:ext cx="10972800" cy="274320"/>
          </a:xfrm>
          <a:prstGeom prst="rect">
            <a:avLst/>
          </a:prstGeom>
          <a:noFill/>
          <a:ln/>
        </p:spPr>
        <p:txBody>
          <a:bodyPr wrap="square" lIns="0" tIns="0" rIns="0" bIns="0" rtlCol="0" anchor="t"/>
          <a:lstStyle/>
          <a:p>
            <a:pPr marL="0" indent="0">
              <a:buNone/>
            </a:pPr>
            <a:r>
              <a:rPr lang="en-US" sz="1100" dirty="0">
                <a:solidFill>
                  <a:srgbClr val="5B6573"/>
                </a:solidFill>
              </a:rPr>
              <a:t>Mean over 10 images per level. Shaded bold teal = best value in that column.</a:t>
            </a:r>
            <a:endParaRPr lang="en-US" sz="1100" dirty="0"/>
          </a:p>
        </p:txBody>
      </p:sp>
      <p:sp>
        <p:nvSpPr>
          <p:cNvPr id="5" name="card"/>
          <p:cNvSpPr/>
          <p:nvPr/>
        </p:nvSpPr>
        <p:spPr>
          <a:xfrm>
            <a:off x="548640" y="4206240"/>
            <a:ext cx="11091672" cy="2103120"/>
          </a:xfrm>
          <a:prstGeom prst="rect">
            <a:avLst/>
          </a:prstGeom>
          <a:solidFill>
            <a:srgbClr val="F1F5F9"/>
          </a:solidFill>
          <a:ln/>
        </p:spPr>
      </p:sp>
      <p:sp>
        <p:nvSpPr>
          <p:cNvPr id="6" name="Text 3"/>
          <p:cNvSpPr txBox="1"/>
          <p:nvPr/>
        </p:nvSpPr>
        <p:spPr>
          <a:xfrm>
            <a:off x="777240" y="4315968"/>
            <a:ext cx="10607040" cy="1920240"/>
          </a:xfrm>
          <a:prstGeom prst="rect">
            <a:avLst/>
          </a:prstGeom>
          <a:noFill/>
          <a:ln/>
        </p:spPr>
        <p:txBody>
          <a:bodyPr wrap="square" lIns="0" tIns="0" rIns="0" bIns="0" rtlCol="0" anchor="ctr"/>
          <a:lstStyle/>
          <a:p>
            <a:pPr marL="342900" indent="-342900">
              <a:spcAft>
                <a:spcPts val="900"/>
              </a:spcAft>
              <a:buSzPct val="100000"/>
              <a:buChar char="•"/>
            </a:pPr>
            <a:r>
              <a:rPr lang="en-US" sz="1500" dirty="0">
                <a:solidFill>
                  <a:srgbClr val="1F2937"/>
                </a:solidFill>
              </a:rPr>
              <a:t>Severe: BCGAE has the lowest MSE (1473.5) and highest SSIM (0.816); HE has the highest PSNR (17.30 dB vs 17.06 dB).</a:t>
            </a:r>
            <a:endParaRPr lang="en-US" sz="1500" dirty="0"/>
          </a:p>
          <a:p>
            <a:pPr marL="342900" indent="-342900">
              <a:spcAft>
                <a:spcPts val="900"/>
              </a:spcAft>
              <a:buSzPct val="100000"/>
              <a:buChar char="•"/>
            </a:pPr>
            <a:r>
              <a:rPr lang="en-US" sz="1500" dirty="0">
                <a:solidFill>
                  <a:srgbClr val="1F2937"/>
                </a:solidFill>
              </a:rPr>
              <a:t>Moderate: HE leads on MSE and PSNR; fixed Gamma + CLAHE leads on SSIM (0.895); BCGAE is second on MSE and SSIM.</a:t>
            </a:r>
            <a:endParaRPr lang="en-US" sz="1500" dirty="0"/>
          </a:p>
          <a:p>
            <a:pPr marL="342900" indent="-342900">
              <a:spcAft>
                <a:spcPts val="900"/>
              </a:spcAft>
              <a:buSzPct val="100000"/>
              <a:buChar char="•"/>
            </a:pPr>
            <a:r>
              <a:rPr lang="en-US" sz="1500" dirty="0">
                <a:solidFill>
                  <a:srgbClr val="1F2937"/>
                </a:solidFill>
              </a:rPr>
              <a:t>Mild: BCGAE ranks last of five on MSE, PSNR and SSIM; Gamma (MSE), fixed Gamma + CLAHE (PSNR) and CLAHE (SSIM) are best.</a:t>
            </a:r>
            <a:endParaRPr lang="en-US" sz="15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Discussion: Trade-offs in the Measurements</a:t>
            </a:r>
            <a:endParaRPr lang="en-US" sz="3000" dirty="0"/>
          </a:p>
        </p:txBody>
      </p:sp>
      <p:sp>
        <p:nvSpPr>
          <p:cNvPr id="3" name="card"/>
          <p:cNvSpPr/>
          <p:nvPr/>
        </p:nvSpPr>
        <p:spPr>
          <a:xfrm>
            <a:off x="548640" y="1280160"/>
            <a:ext cx="5449824" cy="2377440"/>
          </a:xfrm>
          <a:prstGeom prst="rect">
            <a:avLst/>
          </a:prstGeom>
          <a:solidFill>
            <a:srgbClr val="F1F5F9"/>
          </a:solidFill>
          <a:ln/>
        </p:spPr>
      </p:sp>
      <p:sp>
        <p:nvSpPr>
          <p:cNvPr id="4" name="Text 2"/>
          <p:cNvSpPr txBox="1"/>
          <p:nvPr/>
        </p:nvSpPr>
        <p:spPr>
          <a:xfrm>
            <a:off x="731520" y="1389888"/>
            <a:ext cx="5074920" cy="320040"/>
          </a:xfrm>
          <a:prstGeom prst="rect">
            <a:avLst/>
          </a:prstGeom>
          <a:noFill/>
          <a:ln/>
        </p:spPr>
        <p:txBody>
          <a:bodyPr wrap="square" lIns="0" tIns="0" rIns="0" bIns="0" rtlCol="0" anchor="t"/>
          <a:lstStyle/>
          <a:p>
            <a:pPr marL="0" indent="0">
              <a:buNone/>
            </a:pPr>
            <a:r>
              <a:rPr lang="en-US" sz="1600" b="1" dirty="0">
                <a:solidFill>
                  <a:srgbClr val="0B2545"/>
                </a:solidFill>
              </a:rPr>
              <a:t>Visibility vs similarity</a:t>
            </a:r>
            <a:endParaRPr lang="en-US" sz="1600" dirty="0"/>
          </a:p>
        </p:txBody>
      </p:sp>
      <p:sp>
        <p:nvSpPr>
          <p:cNvPr id="5" name="Text 3"/>
          <p:cNvSpPr txBox="1"/>
          <p:nvPr/>
        </p:nvSpPr>
        <p:spPr>
          <a:xfrm>
            <a:off x="731520" y="1783080"/>
            <a:ext cx="5074920" cy="1783080"/>
          </a:xfrm>
          <a:prstGeom prst="rect">
            <a:avLst/>
          </a:prstGeom>
          <a:noFill/>
          <a:ln/>
        </p:spPr>
        <p:txBody>
          <a:bodyPr wrap="square" lIns="0" tIns="0" rIns="0" bIns="0" rtlCol="0" anchor="t"/>
          <a:lstStyle/>
          <a:p>
            <a:pPr marL="0" indent="0">
              <a:buNone/>
            </a:pPr>
            <a:r>
              <a:rPr lang="en-US" sz="1500" dirty="0">
                <a:solidFill>
                  <a:srgbClr val="1F2937"/>
                </a:solidFill>
              </a:rPr>
              <a:t>MSE, PSNR and SSIM measure closeness to the clean reference, not how visible details look. In the sample image, HE gives high contrast but saturates bright areas; Gamma and CLAHE stay dark; BCGAE brightens most but adds blocky tinted patches.</a:t>
            </a:r>
            <a:endParaRPr lang="en-US" sz="1500" dirty="0"/>
          </a:p>
        </p:txBody>
      </p:sp>
      <p:sp>
        <p:nvSpPr>
          <p:cNvPr id="6" name="card"/>
          <p:cNvSpPr/>
          <p:nvPr/>
        </p:nvSpPr>
        <p:spPr>
          <a:xfrm>
            <a:off x="6190488" y="1280160"/>
            <a:ext cx="5449824" cy="2377440"/>
          </a:xfrm>
          <a:prstGeom prst="rect">
            <a:avLst/>
          </a:prstGeom>
          <a:solidFill>
            <a:srgbClr val="E0F4F3"/>
          </a:solidFill>
          <a:ln/>
        </p:spPr>
      </p:sp>
      <p:sp>
        <p:nvSpPr>
          <p:cNvPr id="7" name="Text 5"/>
          <p:cNvSpPr txBox="1"/>
          <p:nvPr/>
        </p:nvSpPr>
        <p:spPr>
          <a:xfrm>
            <a:off x="6373368" y="1389888"/>
            <a:ext cx="5074920" cy="320040"/>
          </a:xfrm>
          <a:prstGeom prst="rect">
            <a:avLst/>
          </a:prstGeom>
          <a:noFill/>
          <a:ln/>
        </p:spPr>
        <p:txBody>
          <a:bodyPr wrap="square" lIns="0" tIns="0" rIns="0" bIns="0" rtlCol="0" anchor="t"/>
          <a:lstStyle/>
          <a:p>
            <a:pPr marL="0" indent="0">
              <a:buNone/>
            </a:pPr>
            <a:r>
              <a:rPr lang="en-US" sz="1600" b="1" dirty="0">
                <a:solidFill>
                  <a:srgbClr val="0B2545"/>
                </a:solidFill>
              </a:rPr>
              <a:t>Consistency across levels</a:t>
            </a:r>
            <a:endParaRPr lang="en-US" sz="1600" dirty="0"/>
          </a:p>
        </p:txBody>
      </p:sp>
      <p:sp>
        <p:nvSpPr>
          <p:cNvPr id="8" name="Text 6"/>
          <p:cNvSpPr txBox="1"/>
          <p:nvPr/>
        </p:nvSpPr>
        <p:spPr>
          <a:xfrm>
            <a:off x="6373368" y="1783080"/>
            <a:ext cx="5074920" cy="1783080"/>
          </a:xfrm>
          <a:prstGeom prst="rect">
            <a:avLst/>
          </a:prstGeom>
          <a:noFill/>
          <a:ln/>
        </p:spPr>
        <p:txBody>
          <a:bodyPr wrap="square" lIns="0" tIns="0" rIns="0" bIns="0" rtlCol="0" anchor="t"/>
          <a:lstStyle/>
          <a:p>
            <a:pPr marL="0" indent="0">
              <a:buNone/>
            </a:pPr>
            <a:r>
              <a:rPr lang="en-US" sz="1500" dirty="0">
                <a:solidFill>
                  <a:srgbClr val="1F2937"/>
                </a:solidFill>
              </a:rPr>
              <a:t>BCGAE's mean SSIM stays between 0.816 and 0.832 over the three levels (range 0.016). The range is 0.104 for HE, 0.186 for fixed Gamma + CLAHE and 0.633 for CLAHE. HE is also steady in PSNR (range 1.0 dB vs 1.2 dB for BCGAE).</a:t>
            </a:r>
            <a:endParaRPr lang="en-US" sz="1500" dirty="0"/>
          </a:p>
        </p:txBody>
      </p:sp>
      <p:sp>
        <p:nvSpPr>
          <p:cNvPr id="9" name="card"/>
          <p:cNvSpPr/>
          <p:nvPr/>
        </p:nvSpPr>
        <p:spPr>
          <a:xfrm>
            <a:off x="548640" y="3840480"/>
            <a:ext cx="5449824" cy="2377440"/>
          </a:xfrm>
          <a:prstGeom prst="rect">
            <a:avLst/>
          </a:prstGeom>
          <a:solidFill>
            <a:srgbClr val="F1F5F9"/>
          </a:solidFill>
          <a:ln/>
        </p:spPr>
      </p:sp>
      <p:sp>
        <p:nvSpPr>
          <p:cNvPr id="10" name="Text 8"/>
          <p:cNvSpPr txBox="1"/>
          <p:nvPr/>
        </p:nvSpPr>
        <p:spPr>
          <a:xfrm>
            <a:off x="731520" y="3950208"/>
            <a:ext cx="5074920" cy="320040"/>
          </a:xfrm>
          <a:prstGeom prst="rect">
            <a:avLst/>
          </a:prstGeom>
          <a:noFill/>
          <a:ln/>
        </p:spPr>
        <p:txBody>
          <a:bodyPr wrap="square" lIns="0" tIns="0" rIns="0" bIns="0" rtlCol="0" anchor="t"/>
          <a:lstStyle/>
          <a:p>
            <a:pPr marL="0" indent="0">
              <a:buNone/>
            </a:pPr>
            <a:r>
              <a:rPr lang="en-US" sz="1600" b="1" dirty="0">
                <a:solidFill>
                  <a:srgbClr val="0B2545"/>
                </a:solidFill>
              </a:rPr>
              <a:t>Where BCGAE helps and where it does not</a:t>
            </a:r>
            <a:endParaRPr lang="en-US" sz="1600" dirty="0"/>
          </a:p>
        </p:txBody>
      </p:sp>
      <p:sp>
        <p:nvSpPr>
          <p:cNvPr id="11" name="Text 9"/>
          <p:cNvSpPr txBox="1"/>
          <p:nvPr/>
        </p:nvSpPr>
        <p:spPr>
          <a:xfrm>
            <a:off x="731520" y="4343400"/>
            <a:ext cx="5074920" cy="1783080"/>
          </a:xfrm>
          <a:prstGeom prst="rect">
            <a:avLst/>
          </a:prstGeom>
          <a:noFill/>
          <a:ln/>
        </p:spPr>
        <p:txBody>
          <a:bodyPr wrap="square" lIns="0" tIns="0" rIns="0" bIns="0" rtlCol="0" anchor="t"/>
          <a:lstStyle/>
          <a:p>
            <a:pPr marL="0" indent="0">
              <a:buNone/>
            </a:pPr>
            <a:r>
              <a:rPr lang="en-US" sz="1500" dirty="0">
                <a:solidFill>
                  <a:srgbClr val="1F2937"/>
                </a:solidFill>
              </a:rPr>
              <a:t>Severe: best SSIM on 7 of 10 images and lowest MSE on 4 of 10. Mild: not the best on any of the 10 images for SSIM or MSE, so fixed methods fit the reference better when degradation is light.</a:t>
            </a:r>
            <a:endParaRPr lang="en-US" sz="1500" dirty="0"/>
          </a:p>
        </p:txBody>
      </p:sp>
      <p:sp>
        <p:nvSpPr>
          <p:cNvPr id="12" name="card"/>
          <p:cNvSpPr/>
          <p:nvPr/>
        </p:nvSpPr>
        <p:spPr>
          <a:xfrm>
            <a:off x="6190488" y="3840480"/>
            <a:ext cx="5449824" cy="2377440"/>
          </a:xfrm>
          <a:prstGeom prst="rect">
            <a:avLst/>
          </a:prstGeom>
          <a:solidFill>
            <a:srgbClr val="FDF0E3"/>
          </a:solidFill>
          <a:ln/>
        </p:spPr>
      </p:sp>
      <p:sp>
        <p:nvSpPr>
          <p:cNvPr id="13" name="Text 11"/>
          <p:cNvSpPr txBox="1"/>
          <p:nvPr/>
        </p:nvSpPr>
        <p:spPr>
          <a:xfrm>
            <a:off x="6373368" y="3950208"/>
            <a:ext cx="5074920" cy="320040"/>
          </a:xfrm>
          <a:prstGeom prst="rect">
            <a:avLst/>
          </a:prstGeom>
          <a:noFill/>
          <a:ln/>
        </p:spPr>
        <p:txBody>
          <a:bodyPr wrap="square" lIns="0" tIns="0" rIns="0" bIns="0" rtlCol="0" anchor="t"/>
          <a:lstStyle/>
          <a:p>
            <a:pPr marL="0" indent="0">
              <a:buNone/>
            </a:pPr>
            <a:r>
              <a:rPr lang="en-US" sz="1600" b="1" dirty="0">
                <a:solidFill>
                  <a:srgbClr val="0B2545"/>
                </a:solidFill>
              </a:rPr>
              <a:t>Descriptive metrics and cost</a:t>
            </a:r>
            <a:endParaRPr lang="en-US" sz="1600" dirty="0"/>
          </a:p>
        </p:txBody>
      </p:sp>
      <p:sp>
        <p:nvSpPr>
          <p:cNvPr id="14" name="Text 12"/>
          <p:cNvSpPr txBox="1"/>
          <p:nvPr/>
        </p:nvSpPr>
        <p:spPr>
          <a:xfrm>
            <a:off x="6373368" y="4343400"/>
            <a:ext cx="5074920" cy="1783080"/>
          </a:xfrm>
          <a:prstGeom prst="rect">
            <a:avLst/>
          </a:prstGeom>
          <a:noFill/>
          <a:ln/>
        </p:spPr>
        <p:txBody>
          <a:bodyPr wrap="square" lIns="0" tIns="0" rIns="0" bIns="0" rtlCol="0" anchor="t"/>
          <a:lstStyle/>
          <a:p>
            <a:pPr marL="0" indent="0">
              <a:buNone/>
            </a:pPr>
            <a:r>
              <a:rPr lang="en-US" sz="1500" dirty="0">
                <a:solidFill>
                  <a:srgbClr val="1F2937"/>
                </a:solidFill>
              </a:rPr>
              <a:t>Entropy and contrast are descriptive: HE has contrast 70.9–72.0 at every level, BCGAE 47.1 falling to 33.6. BCGAE runtime is about 2.1× HE in mean time (6.77 vs 3.17 ms) and about 1.7× fixed Gamma + CLAHE; timing depends on the environment.</a:t>
            </a:r>
            <a:endParaRPr lang="en-US" sz="15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Limitations, Future Work and Conclusion</a:t>
            </a:r>
            <a:endParaRPr lang="en-US" sz="3000" dirty="0"/>
          </a:p>
        </p:txBody>
      </p:sp>
      <p:sp>
        <p:nvSpPr>
          <p:cNvPr id="3" name="card"/>
          <p:cNvSpPr/>
          <p:nvPr/>
        </p:nvSpPr>
        <p:spPr>
          <a:xfrm>
            <a:off x="548640" y="1280160"/>
            <a:ext cx="5440680" cy="3383280"/>
          </a:xfrm>
          <a:prstGeom prst="rect">
            <a:avLst/>
          </a:prstGeom>
          <a:solidFill>
            <a:srgbClr val="FDF0E3"/>
          </a:solidFill>
          <a:ln/>
        </p:spPr>
      </p:sp>
      <p:sp>
        <p:nvSpPr>
          <p:cNvPr id="4" name="Text 2"/>
          <p:cNvSpPr txBox="1"/>
          <p:nvPr/>
        </p:nvSpPr>
        <p:spPr>
          <a:xfrm>
            <a:off x="777240" y="1371600"/>
            <a:ext cx="4937760" cy="365760"/>
          </a:xfrm>
          <a:prstGeom prst="rect">
            <a:avLst/>
          </a:prstGeom>
          <a:noFill/>
          <a:ln/>
        </p:spPr>
        <p:txBody>
          <a:bodyPr wrap="square" lIns="0" tIns="0" rIns="0" bIns="0" rtlCol="0" anchor="t"/>
          <a:lstStyle/>
          <a:p>
            <a:pPr marL="0" indent="0">
              <a:buNone/>
            </a:pPr>
            <a:r>
              <a:rPr lang="en-US" sz="1800" b="1" dirty="0">
                <a:solidFill>
                  <a:srgbClr val="C8691A"/>
                </a:solidFill>
                <a:latin typeface="Cambria" pitchFamily="34" charset="0"/>
                <a:ea typeface="Cambria" pitchFamily="34" charset="-122"/>
                <a:cs typeface="Cambria" pitchFamily="34" charset="-120"/>
              </a:rPr>
              <a:t>Limitations</a:t>
            </a:r>
            <a:endParaRPr lang="en-US" sz="1800" dirty="0"/>
          </a:p>
        </p:txBody>
      </p:sp>
      <p:sp>
        <p:nvSpPr>
          <p:cNvPr id="5" name="Text 3"/>
          <p:cNvSpPr txBox="1"/>
          <p:nvPr/>
        </p:nvSpPr>
        <p:spPr>
          <a:xfrm>
            <a:off x="777240" y="1828800"/>
            <a:ext cx="5029200" cy="27432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937"/>
                </a:solidFill>
              </a:rPr>
              <a:t>Synthetic darkening: no real sensor noise or color shifts</a:t>
            </a:r>
            <a:endParaRPr lang="en-US" sz="1600" dirty="0"/>
          </a:p>
          <a:p>
            <a:pPr marL="342900" indent="-342900">
              <a:spcAft>
                <a:spcPts val="900"/>
              </a:spcAft>
              <a:buSzPct val="100000"/>
              <a:buChar char="•"/>
            </a:pPr>
            <a:r>
              <a:rPr lang="en-US" sz="1600" dirty="0">
                <a:solidFill>
                  <a:srgbClr val="1F2937"/>
                </a:solidFill>
              </a:rPr>
              <a:t>Only 10 images and 3 degradation levels</a:t>
            </a:r>
            <a:endParaRPr lang="en-US" sz="1600" dirty="0"/>
          </a:p>
          <a:p>
            <a:pPr marL="342900" indent="-342900">
              <a:spcAft>
                <a:spcPts val="900"/>
              </a:spcAft>
              <a:buSzPct val="100000"/>
              <a:buChar char="•"/>
            </a:pPr>
            <a:r>
              <a:rPr lang="en-US" sz="1600" dirty="0">
                <a:solidFill>
                  <a:srgbClr val="1F2937"/>
                </a:solidFill>
              </a:rPr>
              <a:t>BCGAE heuristic is not tuned or validated beyond this set</a:t>
            </a:r>
            <a:endParaRPr lang="en-US" sz="1600" dirty="0"/>
          </a:p>
          <a:p>
            <a:pPr marL="342900" indent="-342900">
              <a:spcAft>
                <a:spcPts val="900"/>
              </a:spcAft>
              <a:buSzPct val="100000"/>
              <a:buChar char="•"/>
            </a:pPr>
            <a:r>
              <a:rPr lang="en-US" sz="1600" dirty="0">
                <a:solidFill>
                  <a:srgbClr val="1F2937"/>
                </a:solidFill>
              </a:rPr>
              <a:t>Visible blocky, tinted artifacts in dark regions of the sample</a:t>
            </a:r>
            <a:endParaRPr lang="en-US" sz="1600" dirty="0"/>
          </a:p>
          <a:p>
            <a:pPr marL="342900" indent="-342900">
              <a:spcAft>
                <a:spcPts val="900"/>
              </a:spcAft>
              <a:buSzPct val="100000"/>
              <a:buChar char="•"/>
            </a:pPr>
            <a:r>
              <a:rPr lang="en-US" sz="1600" dirty="0">
                <a:solidFill>
                  <a:srgbClr val="1F2937"/>
                </a:solidFill>
              </a:rPr>
              <a:t>Reference-based metrics may not match perceived quality</a:t>
            </a:r>
            <a:endParaRPr lang="en-US" sz="1600" dirty="0"/>
          </a:p>
        </p:txBody>
      </p:sp>
      <p:sp>
        <p:nvSpPr>
          <p:cNvPr id="6" name="card"/>
          <p:cNvSpPr/>
          <p:nvPr/>
        </p:nvSpPr>
        <p:spPr>
          <a:xfrm>
            <a:off x="6199632" y="1280160"/>
            <a:ext cx="5440680" cy="3383280"/>
          </a:xfrm>
          <a:prstGeom prst="rect">
            <a:avLst/>
          </a:prstGeom>
          <a:solidFill>
            <a:srgbClr val="E0F4F3"/>
          </a:solidFill>
          <a:ln/>
        </p:spPr>
      </p:sp>
      <p:sp>
        <p:nvSpPr>
          <p:cNvPr id="7" name="Text 5"/>
          <p:cNvSpPr txBox="1"/>
          <p:nvPr/>
        </p:nvSpPr>
        <p:spPr>
          <a:xfrm>
            <a:off x="6428232" y="1371600"/>
            <a:ext cx="4937760" cy="365760"/>
          </a:xfrm>
          <a:prstGeom prst="rect">
            <a:avLst/>
          </a:prstGeom>
          <a:noFill/>
          <a:ln/>
        </p:spPr>
        <p:txBody>
          <a:bodyPr wrap="square" lIns="0" tIns="0" rIns="0" bIns="0" rtlCol="0" anchor="t"/>
          <a:lstStyle/>
          <a:p>
            <a:pPr marL="0" indent="0">
              <a:buNone/>
            </a:pPr>
            <a:r>
              <a:rPr lang="en-US" sz="1800" b="1" dirty="0">
                <a:solidFill>
                  <a:srgbClr val="0E8C8C"/>
                </a:solidFill>
                <a:latin typeface="Cambria" pitchFamily="34" charset="0"/>
                <a:ea typeface="Cambria" pitchFamily="34" charset="-122"/>
                <a:cs typeface="Cambria" pitchFamily="34" charset="-120"/>
              </a:rPr>
              <a:t>Future work</a:t>
            </a:r>
            <a:endParaRPr lang="en-US" sz="1800" dirty="0"/>
          </a:p>
        </p:txBody>
      </p:sp>
      <p:sp>
        <p:nvSpPr>
          <p:cNvPr id="8" name="Text 6"/>
          <p:cNvSpPr txBox="1"/>
          <p:nvPr/>
        </p:nvSpPr>
        <p:spPr>
          <a:xfrm>
            <a:off x="6428232" y="1828800"/>
            <a:ext cx="5029200" cy="27432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937"/>
                </a:solidFill>
              </a:rPr>
              <a:t>Test on real low-light photographs</a:t>
            </a:r>
            <a:endParaRPr lang="en-US" sz="1600" dirty="0"/>
          </a:p>
          <a:p>
            <a:pPr marL="342900" indent="-342900">
              <a:spcAft>
                <a:spcPts val="900"/>
              </a:spcAft>
              <a:buSzPct val="100000"/>
              <a:buChar char="•"/>
            </a:pPr>
            <a:r>
              <a:rPr lang="en-US" sz="1600" dirty="0">
                <a:solidFill>
                  <a:srgbClr val="1F2937"/>
                </a:solidFill>
              </a:rPr>
              <a:t>Local brightness estimation and noise-aware selection</a:t>
            </a:r>
            <a:endParaRPr lang="en-US" sz="1600" dirty="0"/>
          </a:p>
          <a:p>
            <a:pPr marL="342900" indent="-342900">
              <a:spcAft>
                <a:spcPts val="900"/>
              </a:spcAft>
              <a:buSzPct val="100000"/>
              <a:buChar char="•"/>
            </a:pPr>
            <a:r>
              <a:rPr lang="en-US" sz="1600" dirty="0">
                <a:solidFill>
                  <a:srgbClr val="1F2937"/>
                </a:solidFill>
              </a:rPr>
              <a:t>Tune and validate the rule on held-out images</a:t>
            </a:r>
            <a:endParaRPr lang="en-US" sz="1600" dirty="0"/>
          </a:p>
          <a:p>
            <a:pPr marL="342900" indent="-342900">
              <a:spcAft>
                <a:spcPts val="900"/>
              </a:spcAft>
              <a:buSzPct val="100000"/>
              <a:buChar char="•"/>
            </a:pPr>
            <a:r>
              <a:rPr lang="en-US" sz="1600" dirty="0">
                <a:solidFill>
                  <a:srgbClr val="1F2937"/>
                </a:solidFill>
              </a:rPr>
              <a:t>Reduce artifacts and improve color preservation</a:t>
            </a:r>
            <a:endParaRPr lang="en-US" sz="1600" dirty="0"/>
          </a:p>
          <a:p>
            <a:pPr marL="342900" indent="-342900">
              <a:spcAft>
                <a:spcPts val="900"/>
              </a:spcAft>
              <a:buSzPct val="100000"/>
              <a:buChar char="•"/>
            </a:pPr>
            <a:r>
              <a:rPr lang="en-US" sz="1600" dirty="0">
                <a:solidFill>
                  <a:srgbClr val="1F2937"/>
                </a:solidFill>
              </a:rPr>
              <a:t>Larger dataset, perceptual metrics, other method families [3], [4]</a:t>
            </a:r>
            <a:endParaRPr lang="en-US" sz="1600" dirty="0"/>
          </a:p>
        </p:txBody>
      </p:sp>
      <p:sp>
        <p:nvSpPr>
          <p:cNvPr id="9" name="card"/>
          <p:cNvSpPr/>
          <p:nvPr/>
        </p:nvSpPr>
        <p:spPr>
          <a:xfrm>
            <a:off x="548640" y="4846320"/>
            <a:ext cx="11091672" cy="1417320"/>
          </a:xfrm>
          <a:prstGeom prst="rect">
            <a:avLst/>
          </a:prstGeom>
          <a:solidFill>
            <a:srgbClr val="0B2545"/>
          </a:solidFill>
          <a:ln/>
        </p:spPr>
      </p:sp>
      <p:sp>
        <p:nvSpPr>
          <p:cNvPr id="10" name="Text 8"/>
          <p:cNvSpPr txBox="1"/>
          <p:nvPr/>
        </p:nvSpPr>
        <p:spPr>
          <a:xfrm>
            <a:off x="777240" y="4846320"/>
            <a:ext cx="10607040" cy="1417320"/>
          </a:xfrm>
          <a:prstGeom prst="rect">
            <a:avLst/>
          </a:prstGeom>
          <a:noFill/>
          <a:ln/>
        </p:spPr>
        <p:txBody>
          <a:bodyPr wrap="square" lIns="0" tIns="0" rIns="0" bIns="0" rtlCol="0" anchor="ctr"/>
          <a:lstStyle/>
          <a:p>
            <a:pPr marL="0" indent="0">
              <a:buNone/>
            </a:pPr>
            <a:r>
              <a:rPr lang="en-US" sz="1500" b="1" dirty="0">
                <a:solidFill>
                  <a:srgbClr val="7FD6D3"/>
                </a:solidFill>
              </a:rPr>
              <a:t>Conclusion  </a:t>
            </a:r>
            <a:r>
              <a:rPr lang="en-US" sz="1500" dirty="0">
                <a:solidFill>
                  <a:srgbClr val="FFFFFF"/>
                </a:solidFill>
              </a:rPr>
              <a:t>On synthetic low-light images, BCGAE was competitive at Severe degradation (lowest MSE, highest SSIM), and its SSIM was the most stable across levels. It was not best on all metrics and ranked last at Mild. It is a project-specific heuristic, not a new algorithm.</a:t>
            </a:r>
            <a:endParaRPr lang="en-US" sz="15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548640" y="1371600"/>
            <a:ext cx="11091672" cy="3840480"/>
          </a:xfrm>
          <a:prstGeom prst="rect">
            <a:avLst/>
          </a:prstGeom>
          <a:noFill/>
          <a:ln/>
        </p:spPr>
        <p:txBody>
          <a:bodyPr wrap="square" lIns="0" tIns="0" rIns="0" bIns="0" rtlCol="0" anchor="t"/>
          <a:lstStyle/>
          <a:p>
            <a:pPr marL="0" indent="0">
              <a:spcAft>
                <a:spcPts val="1400"/>
              </a:spcAft>
              <a:buNone/>
            </a:pPr>
            <a:r>
              <a:rPr lang="en-US" sz="1600" dirty="0">
                <a:solidFill>
                  <a:srgbClr val="1F2937"/>
                </a:solidFill>
              </a:rPr>
              <a:t>[1] S. M. Pizer et al., “Adaptive histogram equalization and its variations,” Computer Vision, Graphics, and Image Processing, vol. 39, no. 3, pp. 355–368, 1987, doi: 10.1016/S0734-189X(87)80186-X.</a:t>
            </a:r>
            <a:endParaRPr lang="en-US" sz="1600" dirty="0"/>
          </a:p>
          <a:p>
            <a:pPr marL="0" indent="0">
              <a:spcAft>
                <a:spcPts val="1400"/>
              </a:spcAft>
              <a:buNone/>
            </a:pPr>
            <a:r>
              <a:rPr lang="en-US" sz="1600" dirty="0">
                <a:solidFill>
                  <a:srgbClr val="1F2937"/>
                </a:solidFill>
              </a:rPr>
              <a:t>[2] K. Zuiderveld, “Contrast Limited Adaptive Histogram Equalization,” in Graphics Gems IV, pp. 474–485, 1994, doi: 10.1016/B978-0-12-336156-1.50061-6.</a:t>
            </a:r>
            <a:endParaRPr lang="en-US" sz="1600" dirty="0"/>
          </a:p>
          <a:p>
            <a:pPr marL="0" indent="0">
              <a:spcAft>
                <a:spcPts val="1400"/>
              </a:spcAft>
              <a:buNone/>
            </a:pPr>
            <a:r>
              <a:rPr lang="en-US" sz="1600" dirty="0">
                <a:solidFill>
                  <a:srgbClr val="1F2937"/>
                </a:solidFill>
              </a:rPr>
              <a:t>[3] W. Wang, X. Wu, X. Yuan, and Z. Gao, “An Experiment-Based Review of Low-Light Image Enhancement Methods,” IEEE Access, vol. 8, pp. 87884–87917, 2020, doi: 10.1109/ACCESS.2020.2992749.</a:t>
            </a:r>
            <a:endParaRPr lang="en-US" sz="1600" dirty="0"/>
          </a:p>
          <a:p>
            <a:pPr marL="0" indent="0">
              <a:spcAft>
                <a:spcPts val="1400"/>
              </a:spcAft>
              <a:buNone/>
            </a:pPr>
            <a:r>
              <a:rPr lang="en-US" sz="1600" dirty="0">
                <a:solidFill>
                  <a:srgbClr val="1F2937"/>
                </a:solidFill>
              </a:rPr>
              <a:t>[4] J. Guo, J. Ma, Á. F. García-Fernández, Y. Zhang, and H. Liang, “A survey on image enhancement for Low-light images,” Heliyon, vol. 9, no. 4, Art. no. e14558, 2023, doi: 10.1016/j.heliyon.2023.e14558.</a:t>
            </a:r>
            <a:endParaRPr lang="en-US" sz="1600" dirty="0"/>
          </a:p>
        </p:txBody>
      </p:sp>
      <p:sp>
        <p:nvSpPr>
          <p:cNvPr id="4" name="Text 2"/>
          <p:cNvSpPr txBox="1"/>
          <p:nvPr/>
        </p:nvSpPr>
        <p:spPr>
          <a:xfrm>
            <a:off x="548640" y="5669280"/>
            <a:ext cx="11091672" cy="548640"/>
          </a:xfrm>
          <a:prstGeom prst="rect">
            <a:avLst/>
          </a:prstGeom>
          <a:noFill/>
          <a:ln/>
        </p:spPr>
        <p:txBody>
          <a:bodyPr wrap="square" lIns="0" tIns="0" rIns="0" bIns="0" rtlCol="0" anchor="t"/>
          <a:lstStyle/>
          <a:p>
            <a:pPr marL="0" indent="0" algn="r">
              <a:buNone/>
            </a:pPr>
            <a:r>
              <a:rPr lang="en-US" sz="2400" b="1" dirty="0">
                <a:solidFill>
                  <a:srgbClr val="0E8C8C"/>
                </a:solidFill>
                <a:latin typeface="Cambria" pitchFamily="34" charset="0"/>
                <a:ea typeface="Cambria" pitchFamily="34" charset="-122"/>
                <a:cs typeface="Cambria" pitchFamily="34" charset="-120"/>
              </a:rPr>
              <a:t>Thank you.</a:t>
            </a:r>
          </a:p>
          <a:p>
            <a:pPr marL="0" indent="0" algn="r">
              <a:buNone/>
            </a:pPr>
            <a:endParaRPr lang="en-US" sz="2400" dirty="0"/>
          </a:p>
        </p:txBody>
      </p:sp>
      <p:sp>
        <p:nvSpPr>
          <p:cNvPr id="25" name="Slide Number Placeholder 0"/>
          <p:cNvSpPr>
            <a:spLocks noGrp="1"/>
          </p:cNvSpPr>
          <p:nvPr>
            <p:ph type="sldNum" sz="quarter" idx="4294967295"/>
          </p:nvPr>
        </p:nvSpPr>
        <p:spPr>
          <a:xfrm>
            <a:off x="10972800" y="644652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3"/>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BCGAE Academic">
  <a:themeElements>
    <a:clrScheme name="BCGAE Academic">
      <a:dk1>
        <a:srgbClr val="1F2937"/>
      </a:dk1>
      <a:lt1>
        <a:srgbClr val="FFFFFF"/>
      </a:lt1>
      <a:dk2>
        <a:srgbClr val="0B2545"/>
      </a:dk2>
      <a:lt2>
        <a:srgbClr val="F1F5F9"/>
      </a:lt2>
      <a:accent1>
        <a:srgbClr val="0E8C8C"/>
      </a:accent1>
      <a:accent2>
        <a:srgbClr val="C8691A"/>
      </a:accent2>
      <a:accent3>
        <a:srgbClr val="5B6573"/>
      </a:accent3>
      <a:accent4>
        <a:srgbClr val="2563EB"/>
      </a:accent4>
      <a:accent5>
        <a:srgbClr val="7C8DA6"/>
      </a:accent5>
      <a:accent6>
        <a:srgbClr val="CBD5E1"/>
      </a:accent6>
      <a:hlink>
        <a:srgbClr val="0E8C8C"/>
      </a:hlink>
      <a:folHlink>
        <a:srgbClr val="5B6573"/>
      </a:folHlink>
    </a:clrScheme>
    <a:fontScheme name="BCGAE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4244</Words>
  <Application>Microsoft Office PowerPoint</Application>
  <PresentationFormat>Widescreen</PresentationFormat>
  <Paragraphs>331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BCGAE Academic</vt:lpstr>
      <vt:lpstr>PowerPoint Presentation</vt:lpstr>
      <vt:lpstr>Introduction: Why Low-Light Enhancement Matters</vt:lpstr>
      <vt:lpstr>Problem Statement and Motivation</vt:lpstr>
      <vt:lpstr>Objectives, Scope and Evaluation Setup</vt:lpstr>
      <vt:lpstr>Literature Review</vt:lpstr>
      <vt:lpstr>Existing Methodologies: Four Baselines</vt:lpstr>
      <vt:lpstr>Proposed Method: BCGAE Parameter Selection</vt:lpstr>
      <vt:lpstr>Visual Comparison: Severe Low-Light Example</vt:lpstr>
      <vt:lpstr>Results I: Reference-Based Metrics (Mean of 10 Images)</vt:lpstr>
      <vt:lpstr>Results II: Entropy, Contrast and Runtime</vt:lpstr>
      <vt:lpstr>Quantitative Summary</vt:lpstr>
      <vt:lpstr>Discussion: Trade-offs in the Measurements</vt:lpstr>
      <vt:lpstr>Limitations, Future Work and Conclusion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Brightness and Contrast Guided Adaptive Enhancement for Low-Light Images</dc:title>
  <dc:subject>PptxGenJS Presentation</dc:subject>
  <dc:creator>Syed Shaheer Hussain</dc:creator>
  <cp:lastModifiedBy>USER</cp:lastModifiedBy>
  <cp:revision>3</cp:revision>
  <dcterms:created xsi:type="dcterms:W3CDTF">2026-10-22T03:34:34Z</dcterms:created>
  <dcterms:modified xsi:type="dcterms:W3CDTF">2026-10-27T09:04:02Z</dcterms:modified>
</cp:coreProperties>
</file>